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62" r:id="rId6"/>
    <p:sldId id="263" r:id="rId7"/>
    <p:sldId id="270" r:id="rId8"/>
    <p:sldId id="265" r:id="rId9"/>
    <p:sldId id="266" r:id="rId10"/>
    <p:sldId id="267" r:id="rId11"/>
    <p:sldId id="272" r:id="rId12"/>
    <p:sldId id="271" r:id="rId13"/>
    <p:sldId id="273" r:id="rId14"/>
    <p:sldId id="27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05264-C453-77E1-0B12-0175E628CE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7E304FB-3577-E58D-7A46-9BB18A7434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7C6EC2-89AB-25B2-C334-204B004084ED}"/>
              </a:ext>
            </a:extLst>
          </p:cNvPr>
          <p:cNvSpPr>
            <a:spLocks noGrp="1"/>
          </p:cNvSpPr>
          <p:nvPr>
            <p:ph type="dt" sz="half" idx="10"/>
          </p:nvPr>
        </p:nvSpPr>
        <p:spPr/>
        <p:txBody>
          <a:bodyPr/>
          <a:lstStyle/>
          <a:p>
            <a:fld id="{4B532EE9-5840-4DE9-86DC-C84414AAE2B7}" type="datetimeFigureOut">
              <a:rPr lang="en-IN" smtClean="0"/>
              <a:t>22-12-2025</a:t>
            </a:fld>
            <a:endParaRPr lang="en-IN"/>
          </a:p>
        </p:txBody>
      </p:sp>
      <p:sp>
        <p:nvSpPr>
          <p:cNvPr id="5" name="Footer Placeholder 4">
            <a:extLst>
              <a:ext uri="{FF2B5EF4-FFF2-40B4-BE49-F238E27FC236}">
                <a16:creationId xmlns:a16="http://schemas.microsoft.com/office/drawing/2014/main" id="{2A1A027F-87DD-C872-4493-A042278AB6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7DD9FB-1296-C82C-E7F7-F5111BE6EBD6}"/>
              </a:ext>
            </a:extLst>
          </p:cNvPr>
          <p:cNvSpPr>
            <a:spLocks noGrp="1"/>
          </p:cNvSpPr>
          <p:nvPr>
            <p:ph type="sldNum" sz="quarter" idx="12"/>
          </p:nvPr>
        </p:nvSpPr>
        <p:spPr/>
        <p:txBody>
          <a:bodyPr/>
          <a:lstStyle/>
          <a:p>
            <a:fld id="{67DEB1CF-E3C0-4AB0-831F-99375E286F89}" type="slidenum">
              <a:rPr lang="en-IN" smtClean="0"/>
              <a:t>‹#›</a:t>
            </a:fld>
            <a:endParaRPr lang="en-IN"/>
          </a:p>
        </p:txBody>
      </p:sp>
    </p:spTree>
    <p:extLst>
      <p:ext uri="{BB962C8B-B14F-4D97-AF65-F5344CB8AC3E}">
        <p14:creationId xmlns:p14="http://schemas.microsoft.com/office/powerpoint/2010/main" val="2687373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E3014-6B73-D5FB-D82B-DAC1BAB62C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1A537F-8A37-E721-894B-D7AB499160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12BC37-0327-DB61-F49B-719D9B1629B5}"/>
              </a:ext>
            </a:extLst>
          </p:cNvPr>
          <p:cNvSpPr>
            <a:spLocks noGrp="1"/>
          </p:cNvSpPr>
          <p:nvPr>
            <p:ph type="dt" sz="half" idx="10"/>
          </p:nvPr>
        </p:nvSpPr>
        <p:spPr/>
        <p:txBody>
          <a:bodyPr/>
          <a:lstStyle/>
          <a:p>
            <a:fld id="{4B532EE9-5840-4DE9-86DC-C84414AAE2B7}" type="datetimeFigureOut">
              <a:rPr lang="en-IN" smtClean="0"/>
              <a:t>22-12-2025</a:t>
            </a:fld>
            <a:endParaRPr lang="en-IN"/>
          </a:p>
        </p:txBody>
      </p:sp>
      <p:sp>
        <p:nvSpPr>
          <p:cNvPr id="5" name="Footer Placeholder 4">
            <a:extLst>
              <a:ext uri="{FF2B5EF4-FFF2-40B4-BE49-F238E27FC236}">
                <a16:creationId xmlns:a16="http://schemas.microsoft.com/office/drawing/2014/main" id="{1217B6F0-5226-6F66-C841-9DC109C2B5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588E98-6FE4-6361-2996-0F800A680C0A}"/>
              </a:ext>
            </a:extLst>
          </p:cNvPr>
          <p:cNvSpPr>
            <a:spLocks noGrp="1"/>
          </p:cNvSpPr>
          <p:nvPr>
            <p:ph type="sldNum" sz="quarter" idx="12"/>
          </p:nvPr>
        </p:nvSpPr>
        <p:spPr/>
        <p:txBody>
          <a:bodyPr/>
          <a:lstStyle/>
          <a:p>
            <a:fld id="{67DEB1CF-E3C0-4AB0-831F-99375E286F89}" type="slidenum">
              <a:rPr lang="en-IN" smtClean="0"/>
              <a:t>‹#›</a:t>
            </a:fld>
            <a:endParaRPr lang="en-IN"/>
          </a:p>
        </p:txBody>
      </p:sp>
    </p:spTree>
    <p:extLst>
      <p:ext uri="{BB962C8B-B14F-4D97-AF65-F5344CB8AC3E}">
        <p14:creationId xmlns:p14="http://schemas.microsoft.com/office/powerpoint/2010/main" val="1207999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ECD0-6E6B-415F-8010-0EFD1D4936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AF53517-5441-CA7A-E82C-73850BA399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24EE05-1521-D7EA-9BCA-02BC88260FE9}"/>
              </a:ext>
            </a:extLst>
          </p:cNvPr>
          <p:cNvSpPr>
            <a:spLocks noGrp="1"/>
          </p:cNvSpPr>
          <p:nvPr>
            <p:ph type="dt" sz="half" idx="10"/>
          </p:nvPr>
        </p:nvSpPr>
        <p:spPr/>
        <p:txBody>
          <a:bodyPr/>
          <a:lstStyle/>
          <a:p>
            <a:fld id="{4B532EE9-5840-4DE9-86DC-C84414AAE2B7}" type="datetimeFigureOut">
              <a:rPr lang="en-IN" smtClean="0"/>
              <a:t>22-12-2025</a:t>
            </a:fld>
            <a:endParaRPr lang="en-IN"/>
          </a:p>
        </p:txBody>
      </p:sp>
      <p:sp>
        <p:nvSpPr>
          <p:cNvPr id="5" name="Footer Placeholder 4">
            <a:extLst>
              <a:ext uri="{FF2B5EF4-FFF2-40B4-BE49-F238E27FC236}">
                <a16:creationId xmlns:a16="http://schemas.microsoft.com/office/drawing/2014/main" id="{817BA1CA-17FD-6D94-B2CE-BD33936928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B669CF-0C42-2DCF-F8D9-301A611D3A15}"/>
              </a:ext>
            </a:extLst>
          </p:cNvPr>
          <p:cNvSpPr>
            <a:spLocks noGrp="1"/>
          </p:cNvSpPr>
          <p:nvPr>
            <p:ph type="sldNum" sz="quarter" idx="12"/>
          </p:nvPr>
        </p:nvSpPr>
        <p:spPr/>
        <p:txBody>
          <a:bodyPr/>
          <a:lstStyle/>
          <a:p>
            <a:fld id="{67DEB1CF-E3C0-4AB0-831F-99375E286F89}" type="slidenum">
              <a:rPr lang="en-IN" smtClean="0"/>
              <a:t>‹#›</a:t>
            </a:fld>
            <a:endParaRPr lang="en-IN"/>
          </a:p>
        </p:txBody>
      </p:sp>
    </p:spTree>
    <p:extLst>
      <p:ext uri="{BB962C8B-B14F-4D97-AF65-F5344CB8AC3E}">
        <p14:creationId xmlns:p14="http://schemas.microsoft.com/office/powerpoint/2010/main" val="1872100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775E3-19B4-F11C-EA37-97327C2372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A64417-BA56-999D-0242-85D836F652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72335F-EFE2-BFDC-11D8-575F0262B5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4B2407-5B57-CDB1-BAE4-20E3CF22CA34}"/>
              </a:ext>
            </a:extLst>
          </p:cNvPr>
          <p:cNvSpPr>
            <a:spLocks noGrp="1"/>
          </p:cNvSpPr>
          <p:nvPr>
            <p:ph type="dt" sz="half" idx="10"/>
          </p:nvPr>
        </p:nvSpPr>
        <p:spPr/>
        <p:txBody>
          <a:bodyPr/>
          <a:lstStyle/>
          <a:p>
            <a:fld id="{4B532EE9-5840-4DE9-86DC-C84414AAE2B7}" type="datetimeFigureOut">
              <a:rPr lang="en-IN" smtClean="0"/>
              <a:t>22-12-2025</a:t>
            </a:fld>
            <a:endParaRPr lang="en-IN"/>
          </a:p>
        </p:txBody>
      </p:sp>
      <p:sp>
        <p:nvSpPr>
          <p:cNvPr id="6" name="Footer Placeholder 5">
            <a:extLst>
              <a:ext uri="{FF2B5EF4-FFF2-40B4-BE49-F238E27FC236}">
                <a16:creationId xmlns:a16="http://schemas.microsoft.com/office/drawing/2014/main" id="{15ADE7E5-8A7B-7BF6-AC36-4C7254D64C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495A98-EF2C-2A60-532F-48605CE64C6D}"/>
              </a:ext>
            </a:extLst>
          </p:cNvPr>
          <p:cNvSpPr>
            <a:spLocks noGrp="1"/>
          </p:cNvSpPr>
          <p:nvPr>
            <p:ph type="sldNum" sz="quarter" idx="12"/>
          </p:nvPr>
        </p:nvSpPr>
        <p:spPr/>
        <p:txBody>
          <a:bodyPr/>
          <a:lstStyle/>
          <a:p>
            <a:fld id="{67DEB1CF-E3C0-4AB0-831F-99375E286F89}" type="slidenum">
              <a:rPr lang="en-IN" smtClean="0"/>
              <a:t>‹#›</a:t>
            </a:fld>
            <a:endParaRPr lang="en-IN"/>
          </a:p>
        </p:txBody>
      </p:sp>
    </p:spTree>
    <p:extLst>
      <p:ext uri="{BB962C8B-B14F-4D97-AF65-F5344CB8AC3E}">
        <p14:creationId xmlns:p14="http://schemas.microsoft.com/office/powerpoint/2010/main" val="1031785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3A645-75BD-F23E-D3BB-30988F11AC6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6577CD-2ADC-9356-0AB8-A7BE53C8FB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31E2A0-8D90-8C47-D8F0-DC232C943C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C4AB347-E058-0A91-BCE2-EAB0C8B38C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EAAF2D-E647-CC99-DA9F-3A587727BD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701C42A-5F03-8B86-E28B-8ED1CFA67F82}"/>
              </a:ext>
            </a:extLst>
          </p:cNvPr>
          <p:cNvSpPr>
            <a:spLocks noGrp="1"/>
          </p:cNvSpPr>
          <p:nvPr>
            <p:ph type="dt" sz="half" idx="10"/>
          </p:nvPr>
        </p:nvSpPr>
        <p:spPr/>
        <p:txBody>
          <a:bodyPr/>
          <a:lstStyle/>
          <a:p>
            <a:fld id="{4B532EE9-5840-4DE9-86DC-C84414AAE2B7}" type="datetimeFigureOut">
              <a:rPr lang="en-IN" smtClean="0"/>
              <a:t>22-12-2025</a:t>
            </a:fld>
            <a:endParaRPr lang="en-IN"/>
          </a:p>
        </p:txBody>
      </p:sp>
      <p:sp>
        <p:nvSpPr>
          <p:cNvPr id="8" name="Footer Placeholder 7">
            <a:extLst>
              <a:ext uri="{FF2B5EF4-FFF2-40B4-BE49-F238E27FC236}">
                <a16:creationId xmlns:a16="http://schemas.microsoft.com/office/drawing/2014/main" id="{5EECD71A-479A-2A59-4D3B-816B02BA188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3A8D1B8-E645-CB2E-F92C-F1BA318C4F92}"/>
              </a:ext>
            </a:extLst>
          </p:cNvPr>
          <p:cNvSpPr>
            <a:spLocks noGrp="1"/>
          </p:cNvSpPr>
          <p:nvPr>
            <p:ph type="sldNum" sz="quarter" idx="12"/>
          </p:nvPr>
        </p:nvSpPr>
        <p:spPr/>
        <p:txBody>
          <a:bodyPr/>
          <a:lstStyle/>
          <a:p>
            <a:fld id="{67DEB1CF-E3C0-4AB0-831F-99375E286F89}" type="slidenum">
              <a:rPr lang="en-IN" smtClean="0"/>
              <a:t>‹#›</a:t>
            </a:fld>
            <a:endParaRPr lang="en-IN"/>
          </a:p>
        </p:txBody>
      </p:sp>
    </p:spTree>
    <p:extLst>
      <p:ext uri="{BB962C8B-B14F-4D97-AF65-F5344CB8AC3E}">
        <p14:creationId xmlns:p14="http://schemas.microsoft.com/office/powerpoint/2010/main" val="3769212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DA4FE-C7FB-E8C3-530D-99B78B7A5A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0AE6CC6-E676-180A-301C-8E245175F13B}"/>
              </a:ext>
            </a:extLst>
          </p:cNvPr>
          <p:cNvSpPr>
            <a:spLocks noGrp="1"/>
          </p:cNvSpPr>
          <p:nvPr>
            <p:ph type="dt" sz="half" idx="10"/>
          </p:nvPr>
        </p:nvSpPr>
        <p:spPr/>
        <p:txBody>
          <a:bodyPr/>
          <a:lstStyle/>
          <a:p>
            <a:fld id="{4B532EE9-5840-4DE9-86DC-C84414AAE2B7}" type="datetimeFigureOut">
              <a:rPr lang="en-IN" smtClean="0"/>
              <a:t>22-12-2025</a:t>
            </a:fld>
            <a:endParaRPr lang="en-IN"/>
          </a:p>
        </p:txBody>
      </p:sp>
      <p:sp>
        <p:nvSpPr>
          <p:cNvPr id="4" name="Footer Placeholder 3">
            <a:extLst>
              <a:ext uri="{FF2B5EF4-FFF2-40B4-BE49-F238E27FC236}">
                <a16:creationId xmlns:a16="http://schemas.microsoft.com/office/drawing/2014/main" id="{14C7540E-2206-9FCA-6399-2BC1FEBF810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1201EC7-3454-0B7D-F79E-E436162C26C8}"/>
              </a:ext>
            </a:extLst>
          </p:cNvPr>
          <p:cNvSpPr>
            <a:spLocks noGrp="1"/>
          </p:cNvSpPr>
          <p:nvPr>
            <p:ph type="sldNum" sz="quarter" idx="12"/>
          </p:nvPr>
        </p:nvSpPr>
        <p:spPr/>
        <p:txBody>
          <a:bodyPr/>
          <a:lstStyle/>
          <a:p>
            <a:fld id="{67DEB1CF-E3C0-4AB0-831F-99375E286F89}" type="slidenum">
              <a:rPr lang="en-IN" smtClean="0"/>
              <a:t>‹#›</a:t>
            </a:fld>
            <a:endParaRPr lang="en-IN"/>
          </a:p>
        </p:txBody>
      </p:sp>
    </p:spTree>
    <p:extLst>
      <p:ext uri="{BB962C8B-B14F-4D97-AF65-F5344CB8AC3E}">
        <p14:creationId xmlns:p14="http://schemas.microsoft.com/office/powerpoint/2010/main" val="2882954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839B76-0D1F-972A-35E9-00E6F5026C0D}"/>
              </a:ext>
            </a:extLst>
          </p:cNvPr>
          <p:cNvSpPr>
            <a:spLocks noGrp="1"/>
          </p:cNvSpPr>
          <p:nvPr>
            <p:ph type="dt" sz="half" idx="10"/>
          </p:nvPr>
        </p:nvSpPr>
        <p:spPr/>
        <p:txBody>
          <a:bodyPr/>
          <a:lstStyle/>
          <a:p>
            <a:fld id="{4B532EE9-5840-4DE9-86DC-C84414AAE2B7}" type="datetimeFigureOut">
              <a:rPr lang="en-IN" smtClean="0"/>
              <a:t>22-12-2025</a:t>
            </a:fld>
            <a:endParaRPr lang="en-IN"/>
          </a:p>
        </p:txBody>
      </p:sp>
      <p:sp>
        <p:nvSpPr>
          <p:cNvPr id="3" name="Footer Placeholder 2">
            <a:extLst>
              <a:ext uri="{FF2B5EF4-FFF2-40B4-BE49-F238E27FC236}">
                <a16:creationId xmlns:a16="http://schemas.microsoft.com/office/drawing/2014/main" id="{C925071B-94A9-1FE2-59FE-C8BA24F12D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2DDC6F7-3AB7-8056-E2F6-E08E0A51725A}"/>
              </a:ext>
            </a:extLst>
          </p:cNvPr>
          <p:cNvSpPr>
            <a:spLocks noGrp="1"/>
          </p:cNvSpPr>
          <p:nvPr>
            <p:ph type="sldNum" sz="quarter" idx="12"/>
          </p:nvPr>
        </p:nvSpPr>
        <p:spPr/>
        <p:txBody>
          <a:bodyPr/>
          <a:lstStyle/>
          <a:p>
            <a:fld id="{67DEB1CF-E3C0-4AB0-831F-99375E286F89}" type="slidenum">
              <a:rPr lang="en-IN" smtClean="0"/>
              <a:t>‹#›</a:t>
            </a:fld>
            <a:endParaRPr lang="en-IN"/>
          </a:p>
        </p:txBody>
      </p:sp>
    </p:spTree>
    <p:extLst>
      <p:ext uri="{BB962C8B-B14F-4D97-AF65-F5344CB8AC3E}">
        <p14:creationId xmlns:p14="http://schemas.microsoft.com/office/powerpoint/2010/main" val="2299950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68ACC-8EFF-4CE3-2EAE-34EE8EC133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8E2ECAB-CDD6-D780-71CC-7B0DADFB2D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ED946D-5E4F-D135-3E1B-537E67FF78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4FA4CA-E448-18BA-04D9-8DAD0149C342}"/>
              </a:ext>
            </a:extLst>
          </p:cNvPr>
          <p:cNvSpPr>
            <a:spLocks noGrp="1"/>
          </p:cNvSpPr>
          <p:nvPr>
            <p:ph type="dt" sz="half" idx="10"/>
          </p:nvPr>
        </p:nvSpPr>
        <p:spPr/>
        <p:txBody>
          <a:bodyPr/>
          <a:lstStyle/>
          <a:p>
            <a:fld id="{4B532EE9-5840-4DE9-86DC-C84414AAE2B7}" type="datetimeFigureOut">
              <a:rPr lang="en-IN" smtClean="0"/>
              <a:t>22-12-2025</a:t>
            </a:fld>
            <a:endParaRPr lang="en-IN"/>
          </a:p>
        </p:txBody>
      </p:sp>
      <p:sp>
        <p:nvSpPr>
          <p:cNvPr id="6" name="Footer Placeholder 5">
            <a:extLst>
              <a:ext uri="{FF2B5EF4-FFF2-40B4-BE49-F238E27FC236}">
                <a16:creationId xmlns:a16="http://schemas.microsoft.com/office/drawing/2014/main" id="{D1A16251-77B6-6DE0-EEC2-4761935DFFA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023D5-9EFF-E324-1D82-DC30BA4F887A}"/>
              </a:ext>
            </a:extLst>
          </p:cNvPr>
          <p:cNvSpPr>
            <a:spLocks noGrp="1"/>
          </p:cNvSpPr>
          <p:nvPr>
            <p:ph type="sldNum" sz="quarter" idx="12"/>
          </p:nvPr>
        </p:nvSpPr>
        <p:spPr/>
        <p:txBody>
          <a:bodyPr/>
          <a:lstStyle/>
          <a:p>
            <a:fld id="{67DEB1CF-E3C0-4AB0-831F-99375E286F89}" type="slidenum">
              <a:rPr lang="en-IN" smtClean="0"/>
              <a:t>‹#›</a:t>
            </a:fld>
            <a:endParaRPr lang="en-IN"/>
          </a:p>
        </p:txBody>
      </p:sp>
    </p:spTree>
    <p:extLst>
      <p:ext uri="{BB962C8B-B14F-4D97-AF65-F5344CB8AC3E}">
        <p14:creationId xmlns:p14="http://schemas.microsoft.com/office/powerpoint/2010/main" val="684179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9D858-17C9-206E-B2BA-0924260B46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7ED078-A788-35DF-6179-E8E0954E5B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3586D71-8295-9615-B65D-C751944AB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3FF9D3-8E46-B0D4-3D9B-1BB2308635DB}"/>
              </a:ext>
            </a:extLst>
          </p:cNvPr>
          <p:cNvSpPr>
            <a:spLocks noGrp="1"/>
          </p:cNvSpPr>
          <p:nvPr>
            <p:ph type="dt" sz="half" idx="10"/>
          </p:nvPr>
        </p:nvSpPr>
        <p:spPr/>
        <p:txBody>
          <a:bodyPr/>
          <a:lstStyle/>
          <a:p>
            <a:fld id="{4B532EE9-5840-4DE9-86DC-C84414AAE2B7}" type="datetimeFigureOut">
              <a:rPr lang="en-IN" smtClean="0"/>
              <a:t>22-12-2025</a:t>
            </a:fld>
            <a:endParaRPr lang="en-IN"/>
          </a:p>
        </p:txBody>
      </p:sp>
      <p:sp>
        <p:nvSpPr>
          <p:cNvPr id="6" name="Footer Placeholder 5">
            <a:extLst>
              <a:ext uri="{FF2B5EF4-FFF2-40B4-BE49-F238E27FC236}">
                <a16:creationId xmlns:a16="http://schemas.microsoft.com/office/drawing/2014/main" id="{E96E786A-DB8E-6BAD-15DE-D253EEDDD2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628F5E5-F317-CE9F-FB6D-75B13FA59066}"/>
              </a:ext>
            </a:extLst>
          </p:cNvPr>
          <p:cNvSpPr>
            <a:spLocks noGrp="1"/>
          </p:cNvSpPr>
          <p:nvPr>
            <p:ph type="sldNum" sz="quarter" idx="12"/>
          </p:nvPr>
        </p:nvSpPr>
        <p:spPr/>
        <p:txBody>
          <a:bodyPr/>
          <a:lstStyle/>
          <a:p>
            <a:fld id="{67DEB1CF-E3C0-4AB0-831F-99375E286F89}" type="slidenum">
              <a:rPr lang="en-IN" smtClean="0"/>
              <a:t>‹#›</a:t>
            </a:fld>
            <a:endParaRPr lang="en-IN"/>
          </a:p>
        </p:txBody>
      </p:sp>
    </p:spTree>
    <p:extLst>
      <p:ext uri="{BB962C8B-B14F-4D97-AF65-F5344CB8AC3E}">
        <p14:creationId xmlns:p14="http://schemas.microsoft.com/office/powerpoint/2010/main" val="3957878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B813-3A3D-CAFA-5DB0-B7E489CD533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121034-4F19-2240-D542-4C7F39F9D5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564CF2-D94D-DF97-771A-D7D0BE72C538}"/>
              </a:ext>
            </a:extLst>
          </p:cNvPr>
          <p:cNvSpPr>
            <a:spLocks noGrp="1"/>
          </p:cNvSpPr>
          <p:nvPr>
            <p:ph type="dt" sz="half" idx="10"/>
          </p:nvPr>
        </p:nvSpPr>
        <p:spPr/>
        <p:txBody>
          <a:bodyPr/>
          <a:lstStyle/>
          <a:p>
            <a:fld id="{4B532EE9-5840-4DE9-86DC-C84414AAE2B7}" type="datetimeFigureOut">
              <a:rPr lang="en-IN" smtClean="0"/>
              <a:t>22-12-2025</a:t>
            </a:fld>
            <a:endParaRPr lang="en-IN"/>
          </a:p>
        </p:txBody>
      </p:sp>
      <p:sp>
        <p:nvSpPr>
          <p:cNvPr id="5" name="Footer Placeholder 4">
            <a:extLst>
              <a:ext uri="{FF2B5EF4-FFF2-40B4-BE49-F238E27FC236}">
                <a16:creationId xmlns:a16="http://schemas.microsoft.com/office/drawing/2014/main" id="{ADBC2F85-0F1E-6ECB-DD35-DEC149F9BC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0B5A9-3CE4-4FF6-B550-1E73711BDD4E}"/>
              </a:ext>
            </a:extLst>
          </p:cNvPr>
          <p:cNvSpPr>
            <a:spLocks noGrp="1"/>
          </p:cNvSpPr>
          <p:nvPr>
            <p:ph type="sldNum" sz="quarter" idx="12"/>
          </p:nvPr>
        </p:nvSpPr>
        <p:spPr/>
        <p:txBody>
          <a:bodyPr/>
          <a:lstStyle/>
          <a:p>
            <a:fld id="{67DEB1CF-E3C0-4AB0-831F-99375E286F89}" type="slidenum">
              <a:rPr lang="en-IN" smtClean="0"/>
              <a:t>‹#›</a:t>
            </a:fld>
            <a:endParaRPr lang="en-IN"/>
          </a:p>
        </p:txBody>
      </p:sp>
    </p:spTree>
    <p:extLst>
      <p:ext uri="{BB962C8B-B14F-4D97-AF65-F5344CB8AC3E}">
        <p14:creationId xmlns:p14="http://schemas.microsoft.com/office/powerpoint/2010/main" val="37932099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3268DC-473F-AE43-C529-5A4FA3059D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C701BA-1D26-41BC-548E-1A35BCC865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51E95B-F8F5-C6DD-518A-2BAB7AC33A85}"/>
              </a:ext>
            </a:extLst>
          </p:cNvPr>
          <p:cNvSpPr>
            <a:spLocks noGrp="1"/>
          </p:cNvSpPr>
          <p:nvPr>
            <p:ph type="dt" sz="half" idx="10"/>
          </p:nvPr>
        </p:nvSpPr>
        <p:spPr/>
        <p:txBody>
          <a:bodyPr/>
          <a:lstStyle/>
          <a:p>
            <a:fld id="{4B532EE9-5840-4DE9-86DC-C84414AAE2B7}" type="datetimeFigureOut">
              <a:rPr lang="en-IN" smtClean="0"/>
              <a:t>22-12-2025</a:t>
            </a:fld>
            <a:endParaRPr lang="en-IN"/>
          </a:p>
        </p:txBody>
      </p:sp>
      <p:sp>
        <p:nvSpPr>
          <p:cNvPr id="5" name="Footer Placeholder 4">
            <a:extLst>
              <a:ext uri="{FF2B5EF4-FFF2-40B4-BE49-F238E27FC236}">
                <a16:creationId xmlns:a16="http://schemas.microsoft.com/office/drawing/2014/main" id="{E167BB8F-667C-88DD-5AC2-8E6A484024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2CA8CD-23EC-81B6-0231-1292ED7F822F}"/>
              </a:ext>
            </a:extLst>
          </p:cNvPr>
          <p:cNvSpPr>
            <a:spLocks noGrp="1"/>
          </p:cNvSpPr>
          <p:nvPr>
            <p:ph type="sldNum" sz="quarter" idx="12"/>
          </p:nvPr>
        </p:nvSpPr>
        <p:spPr/>
        <p:txBody>
          <a:bodyPr/>
          <a:lstStyle/>
          <a:p>
            <a:fld id="{67DEB1CF-E3C0-4AB0-831F-99375E286F89}" type="slidenum">
              <a:rPr lang="en-IN" smtClean="0"/>
              <a:t>‹#›</a:t>
            </a:fld>
            <a:endParaRPr lang="en-IN"/>
          </a:p>
        </p:txBody>
      </p:sp>
    </p:spTree>
    <p:extLst>
      <p:ext uri="{BB962C8B-B14F-4D97-AF65-F5344CB8AC3E}">
        <p14:creationId xmlns:p14="http://schemas.microsoft.com/office/powerpoint/2010/main" val="3006522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D6BE330-AEA1-EF7A-7C9A-4BF9C07B20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400A3C-31BB-EDE1-5877-DE1AF6AFFA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EF21E7-94EA-AB43-100D-114502D468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532EE9-5840-4DE9-86DC-C84414AAE2B7}" type="datetimeFigureOut">
              <a:rPr lang="en-IN" smtClean="0"/>
              <a:t>22-12-2025</a:t>
            </a:fld>
            <a:endParaRPr lang="en-IN"/>
          </a:p>
        </p:txBody>
      </p:sp>
      <p:sp>
        <p:nvSpPr>
          <p:cNvPr id="5" name="Footer Placeholder 4">
            <a:extLst>
              <a:ext uri="{FF2B5EF4-FFF2-40B4-BE49-F238E27FC236}">
                <a16:creationId xmlns:a16="http://schemas.microsoft.com/office/drawing/2014/main" id="{15D379BA-8D35-D5A2-4A60-487EF7CDC5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E6AE8D7-6215-E5ED-8EEC-486A4BFC18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DEB1CF-E3C0-4AB0-831F-99375E286F89}" type="slidenum">
              <a:rPr lang="en-IN" smtClean="0"/>
              <a:t>‹#›</a:t>
            </a:fld>
            <a:endParaRPr lang="en-IN"/>
          </a:p>
        </p:txBody>
      </p:sp>
    </p:spTree>
    <p:extLst>
      <p:ext uri="{BB962C8B-B14F-4D97-AF65-F5344CB8AC3E}">
        <p14:creationId xmlns:p14="http://schemas.microsoft.com/office/powerpoint/2010/main" val="35234276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5C065B8D-9305-D0C9-D7C7-6AB1981724AC}"/>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dirty="0">
                <a:solidFill>
                  <a:srgbClr val="FFFFFF"/>
                </a:solidFill>
                <a:latin typeface="+mj-lt"/>
                <a:ea typeface="+mj-ea"/>
                <a:cs typeface="+mj-cs"/>
              </a:rPr>
              <a:t>GEARWAVE (Defect Analysis)</a:t>
            </a:r>
          </a:p>
        </p:txBody>
      </p:sp>
      <p:sp>
        <p:nvSpPr>
          <p:cNvPr id="4" name="TextBox 3">
            <a:extLst>
              <a:ext uri="{FF2B5EF4-FFF2-40B4-BE49-F238E27FC236}">
                <a16:creationId xmlns:a16="http://schemas.microsoft.com/office/drawing/2014/main" id="{D95340C0-86B5-E69F-6541-E0809ADECEEE}"/>
              </a:ext>
            </a:extLst>
          </p:cNvPr>
          <p:cNvSpPr txBox="1"/>
          <p:nvPr/>
        </p:nvSpPr>
        <p:spPr>
          <a:xfrm>
            <a:off x="6823587" y="5751871"/>
            <a:ext cx="5181600" cy="369332"/>
          </a:xfrm>
          <a:prstGeom prst="rect">
            <a:avLst/>
          </a:prstGeom>
          <a:noFill/>
        </p:spPr>
        <p:txBody>
          <a:bodyPr wrap="square" rtlCol="0">
            <a:spAutoFit/>
          </a:bodyPr>
          <a:lstStyle/>
          <a:p>
            <a:r>
              <a:rPr lang="en-IN" dirty="0"/>
              <a:t>By - Nitin Vishwakarma</a:t>
            </a:r>
          </a:p>
        </p:txBody>
      </p:sp>
    </p:spTree>
    <p:extLst>
      <p:ext uri="{BB962C8B-B14F-4D97-AF65-F5344CB8AC3E}">
        <p14:creationId xmlns:p14="http://schemas.microsoft.com/office/powerpoint/2010/main" val="249499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67C340-641A-A822-CCF1-EDBB08672A71}"/>
              </a:ext>
            </a:extLst>
          </p:cNvPr>
          <p:cNvSpPr>
            <a:spLocks noGrp="1"/>
          </p:cNvSpPr>
          <p:nvPr>
            <p:ph type="title"/>
          </p:nvPr>
        </p:nvSpPr>
        <p:spPr>
          <a:xfrm>
            <a:off x="1371599" y="294538"/>
            <a:ext cx="9895951" cy="1033669"/>
          </a:xfrm>
        </p:spPr>
        <p:txBody>
          <a:bodyPr>
            <a:normAutofit/>
          </a:bodyPr>
          <a:lstStyle/>
          <a:p>
            <a:r>
              <a:rPr lang="en-IN" sz="4000" b="1" dirty="0">
                <a:solidFill>
                  <a:srgbClr val="FFFFFF"/>
                </a:solidFill>
              </a:rPr>
              <a:t>Scenario</a:t>
            </a:r>
          </a:p>
        </p:txBody>
      </p:sp>
      <p:sp>
        <p:nvSpPr>
          <p:cNvPr id="3" name="Content Placeholder 2">
            <a:extLst>
              <a:ext uri="{FF2B5EF4-FFF2-40B4-BE49-F238E27FC236}">
                <a16:creationId xmlns:a16="http://schemas.microsoft.com/office/drawing/2014/main" id="{64BACEB6-E48C-19CA-8BDD-B3E7704A33A4}"/>
              </a:ext>
            </a:extLst>
          </p:cNvPr>
          <p:cNvSpPr>
            <a:spLocks noGrp="1"/>
          </p:cNvSpPr>
          <p:nvPr>
            <p:ph idx="1"/>
          </p:nvPr>
        </p:nvSpPr>
        <p:spPr>
          <a:xfrm>
            <a:off x="820993" y="1102065"/>
            <a:ext cx="9724031" cy="5151251"/>
          </a:xfrm>
        </p:spPr>
        <p:txBody>
          <a:bodyPr anchor="ctr">
            <a:normAutofit/>
          </a:bodyPr>
          <a:lstStyle/>
          <a:p>
            <a:endParaRPr lang="en-IN" dirty="0"/>
          </a:p>
          <a:p>
            <a:endParaRPr lang="en-IN" dirty="0"/>
          </a:p>
          <a:p>
            <a:r>
              <a:rPr lang="en-US" sz="2100" dirty="0"/>
              <a:t> Welcome to the Gearwave an imaginary bike parts manufacturing! I work for a fictional company, Gearwave, along with some key team members. </a:t>
            </a:r>
          </a:p>
          <a:p>
            <a:r>
              <a:rPr lang="en-US" sz="2000" dirty="0"/>
              <a:t>I work as a junior data analyst supporting the production and manufacturing teams to understand defect patterns and identify opportunities for quality improvement.</a:t>
            </a:r>
            <a:endParaRPr lang="en-IN" sz="1800" dirty="0"/>
          </a:p>
        </p:txBody>
      </p:sp>
    </p:spTree>
    <p:extLst>
      <p:ext uri="{BB962C8B-B14F-4D97-AF65-F5344CB8AC3E}">
        <p14:creationId xmlns:p14="http://schemas.microsoft.com/office/powerpoint/2010/main" val="4066995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E22FF5-B47F-887D-AAFD-DD7759A5263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868E6C-04B1-E8AB-DF76-7CBD72C1C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86D9F2-12E0-3082-1F1D-4358FC4BC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F9BB93E-CC9A-7079-50FF-8EE737955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7C1CFE4-2A0C-C3F9-C844-5864E700F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0B3BCFF-8121-05FE-BD3F-D69584085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1EFA8F-3D31-CDDF-6598-8448EA324238}"/>
              </a:ext>
            </a:extLst>
          </p:cNvPr>
          <p:cNvSpPr>
            <a:spLocks noGrp="1"/>
          </p:cNvSpPr>
          <p:nvPr>
            <p:ph type="title"/>
          </p:nvPr>
        </p:nvSpPr>
        <p:spPr>
          <a:xfrm>
            <a:off x="1371599" y="294538"/>
            <a:ext cx="9895951" cy="1033669"/>
          </a:xfrm>
        </p:spPr>
        <p:txBody>
          <a:bodyPr>
            <a:normAutofit/>
          </a:bodyPr>
          <a:lstStyle/>
          <a:p>
            <a:r>
              <a:rPr lang="en-IN" sz="4000" b="1" dirty="0">
                <a:solidFill>
                  <a:srgbClr val="FFFFFF"/>
                </a:solidFill>
              </a:rPr>
              <a:t>Questions Asked</a:t>
            </a:r>
          </a:p>
        </p:txBody>
      </p:sp>
      <p:sp>
        <p:nvSpPr>
          <p:cNvPr id="3" name="Content Placeholder 2">
            <a:extLst>
              <a:ext uri="{FF2B5EF4-FFF2-40B4-BE49-F238E27FC236}">
                <a16:creationId xmlns:a16="http://schemas.microsoft.com/office/drawing/2014/main" id="{41B25EF5-5D0D-F886-5BD8-175788DA2534}"/>
              </a:ext>
            </a:extLst>
          </p:cNvPr>
          <p:cNvSpPr>
            <a:spLocks noGrp="1"/>
          </p:cNvSpPr>
          <p:nvPr>
            <p:ph idx="1"/>
          </p:nvPr>
        </p:nvSpPr>
        <p:spPr>
          <a:xfrm>
            <a:off x="820993" y="1885279"/>
            <a:ext cx="9724031" cy="4368037"/>
          </a:xfrm>
        </p:spPr>
        <p:txBody>
          <a:bodyPr anchor="ctr">
            <a:normAutofit/>
          </a:bodyPr>
          <a:lstStyle/>
          <a:p>
            <a:endParaRPr lang="en-IN" sz="2000" dirty="0"/>
          </a:p>
          <a:p>
            <a:pPr marL="0" indent="0">
              <a:buNone/>
            </a:pPr>
            <a:r>
              <a:rPr lang="en-US" sz="2000" dirty="0"/>
              <a:t>The production and manufacturing teams raised eight key questions:</a:t>
            </a:r>
            <a:r>
              <a:rPr lang="en-IN" sz="2000" dirty="0"/>
              <a:t>-</a:t>
            </a:r>
          </a:p>
          <a:p>
            <a:r>
              <a:rPr lang="en-IN" sz="2000" dirty="0"/>
              <a:t>How has the defect trend changed over time?</a:t>
            </a:r>
          </a:p>
          <a:p>
            <a:r>
              <a:rPr lang="en-IN" sz="2000" dirty="0"/>
              <a:t>Which defect types contribute the most to overall defects?</a:t>
            </a:r>
          </a:p>
          <a:p>
            <a:r>
              <a:rPr lang="en-IN" sz="2000" dirty="0"/>
              <a:t>Which defect types are the most expensive to fix?</a:t>
            </a:r>
          </a:p>
          <a:p>
            <a:r>
              <a:rPr lang="en-IN" sz="2000" dirty="0"/>
              <a:t>How does defect severity impact repair cost?</a:t>
            </a:r>
          </a:p>
          <a:p>
            <a:r>
              <a:rPr lang="en-IN" sz="2000" dirty="0"/>
              <a:t>Which inspection method detects the most critical defects?</a:t>
            </a:r>
          </a:p>
          <a:p>
            <a:r>
              <a:rPr lang="en-IN" sz="2000" dirty="0"/>
              <a:t>Are certain defect locations associated with higher severity?</a:t>
            </a:r>
          </a:p>
          <a:p>
            <a:r>
              <a:rPr lang="en-US" sz="2000" dirty="0"/>
              <a:t>Do certain inspection methods lead to lower repair costs?</a:t>
            </a:r>
            <a:endParaRPr lang="en-IN" sz="2000" dirty="0"/>
          </a:p>
          <a:p>
            <a:r>
              <a:rPr lang="en-IN" sz="2000" dirty="0"/>
              <a:t>Which products generate the highest number of defects?</a:t>
            </a:r>
          </a:p>
          <a:p>
            <a:endParaRPr lang="en-IN" sz="1100" dirty="0"/>
          </a:p>
        </p:txBody>
      </p:sp>
    </p:spTree>
    <p:extLst>
      <p:ext uri="{BB962C8B-B14F-4D97-AF65-F5344CB8AC3E}">
        <p14:creationId xmlns:p14="http://schemas.microsoft.com/office/powerpoint/2010/main" val="2262169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633CCA-86E3-9F50-92B4-F0C46641840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06FDB6-065C-2817-EDA4-CE8D2BA4ED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1439E33-B55B-66AD-7353-CC6105013B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023D8B-05E0-0E29-9814-C25C4877BC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01D55F9-D2B8-BC71-AADD-77D641544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D7A6811-A53D-A7D2-AC37-3B44EC5CC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5E385F-DF92-C9A4-188E-DCC8C3E09C82}"/>
              </a:ext>
            </a:extLst>
          </p:cNvPr>
          <p:cNvSpPr>
            <a:spLocks noGrp="1"/>
          </p:cNvSpPr>
          <p:nvPr>
            <p:ph type="title"/>
          </p:nvPr>
        </p:nvSpPr>
        <p:spPr>
          <a:xfrm>
            <a:off x="1371599" y="294538"/>
            <a:ext cx="9895951" cy="1033669"/>
          </a:xfrm>
        </p:spPr>
        <p:txBody>
          <a:bodyPr>
            <a:normAutofit/>
          </a:bodyPr>
          <a:lstStyle/>
          <a:p>
            <a:r>
              <a:rPr lang="en-IN" sz="4000" b="1" dirty="0">
                <a:solidFill>
                  <a:srgbClr val="FFFFFF"/>
                </a:solidFill>
              </a:rPr>
              <a:t>About data</a:t>
            </a:r>
          </a:p>
        </p:txBody>
      </p:sp>
      <p:sp>
        <p:nvSpPr>
          <p:cNvPr id="3" name="Content Placeholder 2">
            <a:extLst>
              <a:ext uri="{FF2B5EF4-FFF2-40B4-BE49-F238E27FC236}">
                <a16:creationId xmlns:a16="http://schemas.microsoft.com/office/drawing/2014/main" id="{B172FB26-08E4-38D2-579C-3F103942DE7F}"/>
              </a:ext>
            </a:extLst>
          </p:cNvPr>
          <p:cNvSpPr>
            <a:spLocks noGrp="1"/>
          </p:cNvSpPr>
          <p:nvPr>
            <p:ph idx="1"/>
          </p:nvPr>
        </p:nvSpPr>
        <p:spPr>
          <a:xfrm>
            <a:off x="820993" y="1885279"/>
            <a:ext cx="9724031" cy="4368037"/>
          </a:xfrm>
        </p:spPr>
        <p:txBody>
          <a:bodyPr anchor="ctr">
            <a:normAutofit/>
          </a:bodyPr>
          <a:lstStyle/>
          <a:p>
            <a:r>
              <a:rPr lang="en-US" sz="2000" dirty="0"/>
              <a:t>The analysis uses data from the past six months, consisting of 1,000 records across 10 columns.</a:t>
            </a:r>
            <a:r>
              <a:rPr lang="en-IN" sz="2000" dirty="0"/>
              <a:t>–</a:t>
            </a:r>
          </a:p>
          <a:p>
            <a:pPr lvl="1">
              <a:buFont typeface="+mj-lt"/>
              <a:buAutoNum type="arabicPeriod"/>
            </a:pPr>
            <a:r>
              <a:rPr lang="en-IN" sz="1400" dirty="0" err="1"/>
              <a:t>defect_id</a:t>
            </a:r>
            <a:r>
              <a:rPr lang="en-IN" sz="1400" dirty="0"/>
              <a:t>: Unique identifier for each defect.</a:t>
            </a:r>
          </a:p>
          <a:p>
            <a:pPr lvl="1">
              <a:buFont typeface="+mj-lt"/>
              <a:buAutoNum type="arabicPeriod"/>
            </a:pPr>
            <a:r>
              <a:rPr lang="en-IN" sz="1400" dirty="0" err="1"/>
              <a:t>product_id</a:t>
            </a:r>
            <a:r>
              <a:rPr lang="en-IN" sz="1400" dirty="0"/>
              <a:t>: Identifier for the product associated with the defect.</a:t>
            </a:r>
          </a:p>
          <a:p>
            <a:pPr lvl="1">
              <a:buFont typeface="+mj-lt"/>
              <a:buAutoNum type="arabicPeriod"/>
            </a:pPr>
            <a:r>
              <a:rPr lang="en-IN" sz="1400" dirty="0" err="1"/>
              <a:t>defect_type</a:t>
            </a:r>
            <a:r>
              <a:rPr lang="en-IN" sz="1400" dirty="0"/>
              <a:t>: Type or category of the defect (e.g., cosmetic, functional, structural).</a:t>
            </a:r>
          </a:p>
          <a:p>
            <a:pPr lvl="1">
              <a:buFont typeface="+mj-lt"/>
              <a:buAutoNum type="arabicPeriod"/>
            </a:pPr>
            <a:r>
              <a:rPr lang="en-IN" sz="1400" dirty="0" err="1"/>
              <a:t>defect_description</a:t>
            </a:r>
            <a:r>
              <a:rPr lang="en-IN" sz="1400" dirty="0"/>
              <a:t>: Description of the defect.</a:t>
            </a:r>
          </a:p>
          <a:p>
            <a:pPr lvl="1">
              <a:buFont typeface="+mj-lt"/>
              <a:buAutoNum type="arabicPeriod"/>
            </a:pPr>
            <a:r>
              <a:rPr lang="en-IN" sz="1400" dirty="0" err="1"/>
              <a:t>defect_date</a:t>
            </a:r>
            <a:r>
              <a:rPr lang="en-IN" sz="1400" dirty="0"/>
              <a:t>: Date when the defect was detected.</a:t>
            </a:r>
          </a:p>
          <a:p>
            <a:pPr lvl="1">
              <a:buFont typeface="+mj-lt"/>
              <a:buAutoNum type="arabicPeriod"/>
            </a:pPr>
            <a:r>
              <a:rPr lang="en-IN" sz="1400" dirty="0" err="1"/>
              <a:t>defect_location</a:t>
            </a:r>
            <a:r>
              <a:rPr lang="en-IN" sz="1400" dirty="0"/>
              <a:t>: Location within the product where the defect was found (e.g., surface, component).</a:t>
            </a:r>
          </a:p>
          <a:p>
            <a:pPr lvl="1">
              <a:buFont typeface="+mj-lt"/>
              <a:buAutoNum type="arabicPeriod"/>
            </a:pPr>
            <a:r>
              <a:rPr lang="en-IN" sz="1400" dirty="0"/>
              <a:t>severity: Severity level of the defect (e.g., minor, moderate, critical).</a:t>
            </a:r>
          </a:p>
          <a:p>
            <a:pPr lvl="1">
              <a:buFont typeface="+mj-lt"/>
              <a:buAutoNum type="arabicPeriod"/>
            </a:pPr>
            <a:r>
              <a:rPr lang="en-IN" sz="1400" dirty="0" err="1"/>
              <a:t>inspection_method</a:t>
            </a:r>
            <a:r>
              <a:rPr lang="en-IN" sz="1400" dirty="0"/>
              <a:t>: Method used to detect the defect (e.g., visual inspection, automated testing).</a:t>
            </a:r>
          </a:p>
          <a:p>
            <a:pPr lvl="1">
              <a:buFont typeface="+mj-lt"/>
              <a:buAutoNum type="arabicPeriod"/>
            </a:pPr>
            <a:r>
              <a:rPr lang="en-IN" sz="1400" dirty="0" err="1"/>
              <a:t>repair_action</a:t>
            </a:r>
            <a:r>
              <a:rPr lang="en-IN" sz="1400" dirty="0"/>
              <a:t>: Action taken to repair or address the defect.</a:t>
            </a:r>
          </a:p>
          <a:p>
            <a:pPr lvl="1">
              <a:buFont typeface="+mj-lt"/>
              <a:buAutoNum type="arabicPeriod"/>
            </a:pPr>
            <a:r>
              <a:rPr lang="en-IN" sz="1400" dirty="0" err="1"/>
              <a:t>repair_cost</a:t>
            </a:r>
            <a:r>
              <a:rPr lang="en-IN" sz="1400" dirty="0"/>
              <a:t>: Cost incurred to repair the defect .</a:t>
            </a:r>
          </a:p>
          <a:p>
            <a:endParaRPr lang="en-IN" sz="2000" dirty="0"/>
          </a:p>
        </p:txBody>
      </p:sp>
    </p:spTree>
    <p:extLst>
      <p:ext uri="{BB962C8B-B14F-4D97-AF65-F5344CB8AC3E}">
        <p14:creationId xmlns:p14="http://schemas.microsoft.com/office/powerpoint/2010/main" val="2697806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F6770C-39D1-06D5-B809-52B2F8E32D8B}"/>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4166B1-4753-2357-0F3A-0500B7E877BC}"/>
              </a:ext>
            </a:extLst>
          </p:cNvPr>
          <p:cNvSpPr>
            <a:spLocks noGrp="1"/>
          </p:cNvSpPr>
          <p:nvPr>
            <p:ph type="title"/>
          </p:nvPr>
        </p:nvSpPr>
        <p:spPr>
          <a:xfrm>
            <a:off x="466722" y="586855"/>
            <a:ext cx="3201366" cy="3387497"/>
          </a:xfrm>
        </p:spPr>
        <p:txBody>
          <a:bodyPr anchor="b">
            <a:normAutofit/>
          </a:bodyPr>
          <a:lstStyle/>
          <a:p>
            <a:pPr algn="r"/>
            <a:r>
              <a:rPr lang="en-IN" sz="4000" dirty="0">
                <a:solidFill>
                  <a:srgbClr val="FFFFFF"/>
                </a:solidFill>
              </a:rPr>
              <a:t>How has the defect trend changed over time?</a:t>
            </a:r>
            <a:endParaRPr lang="en-IN" sz="4000" b="1" dirty="0">
              <a:solidFill>
                <a:srgbClr val="FFFFFF"/>
              </a:solidFill>
            </a:endParaRPr>
          </a:p>
        </p:txBody>
      </p:sp>
      <p:sp>
        <p:nvSpPr>
          <p:cNvPr id="3" name="Content Placeholder 2">
            <a:extLst>
              <a:ext uri="{FF2B5EF4-FFF2-40B4-BE49-F238E27FC236}">
                <a16:creationId xmlns:a16="http://schemas.microsoft.com/office/drawing/2014/main" id="{D38E6E07-B9F2-73C7-3195-BC3669536D14}"/>
              </a:ext>
            </a:extLst>
          </p:cNvPr>
          <p:cNvSpPr>
            <a:spLocks noGrp="1"/>
          </p:cNvSpPr>
          <p:nvPr>
            <p:ph idx="1"/>
          </p:nvPr>
        </p:nvSpPr>
        <p:spPr>
          <a:xfrm>
            <a:off x="4810259" y="649480"/>
            <a:ext cx="6555347" cy="5546047"/>
          </a:xfrm>
        </p:spPr>
        <p:txBody>
          <a:bodyPr anchor="ctr">
            <a:normAutofit/>
          </a:bodyPr>
          <a:lstStyle/>
          <a:p>
            <a:endParaRPr lang="en-IN" sz="2000" dirty="0"/>
          </a:p>
          <a:p>
            <a:endParaRPr lang="en-IN" sz="2000" dirty="0"/>
          </a:p>
          <a:p>
            <a:endParaRPr lang="en-IN" sz="2000" dirty="0"/>
          </a:p>
        </p:txBody>
      </p:sp>
      <p:sp>
        <p:nvSpPr>
          <p:cNvPr id="6" name="TextBox 5">
            <a:extLst>
              <a:ext uri="{FF2B5EF4-FFF2-40B4-BE49-F238E27FC236}">
                <a16:creationId xmlns:a16="http://schemas.microsoft.com/office/drawing/2014/main" id="{3A363821-2634-4432-88C4-0859ACC6624C}"/>
              </a:ext>
            </a:extLst>
          </p:cNvPr>
          <p:cNvSpPr txBox="1"/>
          <p:nvPr/>
        </p:nvSpPr>
        <p:spPr>
          <a:xfrm>
            <a:off x="4326194" y="4709652"/>
            <a:ext cx="7629832" cy="1200329"/>
          </a:xfrm>
          <a:prstGeom prst="rect">
            <a:avLst/>
          </a:prstGeom>
          <a:noFill/>
        </p:spPr>
        <p:txBody>
          <a:bodyPr wrap="square" rtlCol="0">
            <a:spAutoFit/>
          </a:bodyPr>
          <a:lstStyle/>
          <a:p>
            <a:r>
              <a:rPr lang="en-US" dirty="0"/>
              <a:t>The defect trend shows a clear overall decline of around 21% over six months. However, the month-over-month fluctuations indicate that quality improvements are not yet fully stabilized and may require sustained process control.</a:t>
            </a:r>
            <a:endParaRPr lang="en-IN" dirty="0"/>
          </a:p>
        </p:txBody>
      </p:sp>
      <p:pic>
        <p:nvPicPr>
          <p:cNvPr id="9" name="Picture 8" descr="A graph with blue lines and numbers">
            <a:extLst>
              <a:ext uri="{FF2B5EF4-FFF2-40B4-BE49-F238E27FC236}">
                <a16:creationId xmlns:a16="http://schemas.microsoft.com/office/drawing/2014/main" id="{CD06751D-C94F-D391-30E7-90E5C74393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3006" y="221759"/>
            <a:ext cx="8118994" cy="4271583"/>
          </a:xfrm>
          <a:prstGeom prst="rect">
            <a:avLst/>
          </a:prstGeom>
        </p:spPr>
      </p:pic>
    </p:spTree>
    <p:extLst>
      <p:ext uri="{BB962C8B-B14F-4D97-AF65-F5344CB8AC3E}">
        <p14:creationId xmlns:p14="http://schemas.microsoft.com/office/powerpoint/2010/main" val="2592757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90FBAB-0B5F-974E-846F-377D44BCB2FA}"/>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7A80018-F9E1-0322-F623-1CEE8C432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EBBEAE56-2554-4D00-C0E8-D1AA805F1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397331D-6D8C-CA54-BD57-D6816D166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FB44870-F599-FA0F-3553-BB0922D0D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DEEF825-7B5B-FE0B-2C16-6403C0D8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C0625660-AAC3-73E7-95BF-283D69950A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A3761DDA-284E-9733-D1DD-2EE1F7A77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3FCF15-3CF2-0F0A-A53A-BA33FAE0E46F}"/>
              </a:ext>
            </a:extLst>
          </p:cNvPr>
          <p:cNvSpPr>
            <a:spLocks noGrp="1"/>
          </p:cNvSpPr>
          <p:nvPr>
            <p:ph type="title"/>
          </p:nvPr>
        </p:nvSpPr>
        <p:spPr>
          <a:xfrm>
            <a:off x="466722" y="586855"/>
            <a:ext cx="3201366" cy="3387497"/>
          </a:xfrm>
        </p:spPr>
        <p:txBody>
          <a:bodyPr anchor="b">
            <a:normAutofit fontScale="90000"/>
          </a:bodyPr>
          <a:lstStyle/>
          <a:p>
            <a:pPr algn="r"/>
            <a:r>
              <a:rPr lang="en-IN" sz="4000" dirty="0">
                <a:solidFill>
                  <a:schemeClr val="bg1"/>
                </a:solidFill>
              </a:rPr>
              <a:t>Which defect types contribute the most to overall defects?</a:t>
            </a:r>
            <a:br>
              <a:rPr lang="en-IN" sz="4000" dirty="0">
                <a:solidFill>
                  <a:schemeClr val="bg1"/>
                </a:solidFill>
              </a:rPr>
            </a:br>
            <a:endParaRPr lang="en-IN" sz="4000" b="1" dirty="0">
              <a:solidFill>
                <a:schemeClr val="bg1"/>
              </a:solidFill>
            </a:endParaRPr>
          </a:p>
        </p:txBody>
      </p:sp>
      <p:sp>
        <p:nvSpPr>
          <p:cNvPr id="3" name="Content Placeholder 2">
            <a:extLst>
              <a:ext uri="{FF2B5EF4-FFF2-40B4-BE49-F238E27FC236}">
                <a16:creationId xmlns:a16="http://schemas.microsoft.com/office/drawing/2014/main" id="{DAE1742C-9D75-55F0-E93E-DA2AD56AC4E6}"/>
              </a:ext>
            </a:extLst>
          </p:cNvPr>
          <p:cNvSpPr>
            <a:spLocks noGrp="1"/>
          </p:cNvSpPr>
          <p:nvPr>
            <p:ph idx="1"/>
          </p:nvPr>
        </p:nvSpPr>
        <p:spPr>
          <a:xfrm>
            <a:off x="4810259" y="649480"/>
            <a:ext cx="6555347" cy="5546047"/>
          </a:xfrm>
        </p:spPr>
        <p:txBody>
          <a:bodyPr anchor="ctr">
            <a:normAutofit/>
          </a:bodyPr>
          <a:lstStyle/>
          <a:p>
            <a:endParaRPr lang="en-IN" sz="2000" dirty="0"/>
          </a:p>
          <a:p>
            <a:endParaRPr lang="en-IN" sz="2000" dirty="0"/>
          </a:p>
          <a:p>
            <a:endParaRPr lang="en-IN" sz="2000" dirty="0"/>
          </a:p>
        </p:txBody>
      </p:sp>
      <p:pic>
        <p:nvPicPr>
          <p:cNvPr id="7" name="Picture 6" descr="A blue and white striped logo&#10;&#10;AI-generated content may be incorrect.">
            <a:extLst>
              <a:ext uri="{FF2B5EF4-FFF2-40B4-BE49-F238E27FC236}">
                <a16:creationId xmlns:a16="http://schemas.microsoft.com/office/drawing/2014/main" id="{52F4A7A5-DC96-ABDC-FBB1-04DD211DAF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7826" y="1569677"/>
            <a:ext cx="8120576" cy="1095735"/>
          </a:xfrm>
          <a:prstGeom prst="rect">
            <a:avLst/>
          </a:prstGeom>
        </p:spPr>
      </p:pic>
      <p:sp>
        <p:nvSpPr>
          <p:cNvPr id="8" name="TextBox 7">
            <a:extLst>
              <a:ext uri="{FF2B5EF4-FFF2-40B4-BE49-F238E27FC236}">
                <a16:creationId xmlns:a16="http://schemas.microsoft.com/office/drawing/2014/main" id="{472DC2C0-932D-8357-26C2-D2BC6F03D836}"/>
              </a:ext>
            </a:extLst>
          </p:cNvPr>
          <p:cNvSpPr txBox="1"/>
          <p:nvPr/>
        </p:nvSpPr>
        <p:spPr>
          <a:xfrm>
            <a:off x="4367695" y="3887203"/>
            <a:ext cx="782796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Structural defects are the highest contributor at 35.2%, followed closely by functional defects at 33.9%, indicating that core product integrity issues are the primary quality concern.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Although structural defects are the largest category, the relatively even distribution suggests quality issues span multiple areas rather than a single isolated problem.</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395408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8BF6BD-05F3-1EC4-F18E-83FEB032C293}"/>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2634377-DE94-AEDB-0AA9-5CB9CF2C7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025EFA70-E2D2-7D31-3BD5-712C92331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FCA21EB-04CF-66D2-8864-2918F2C56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C06836E-0FA5-2E72-9DEA-A176EA8DF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52E07C1B-3119-050A-7353-51A2BDA4F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6456355-1E91-C574-727D-058BDE717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9D524539-5EB6-46A9-CC99-F77FF25C3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3704F4-B174-BB9E-ECBF-E3F511C83C89}"/>
              </a:ext>
            </a:extLst>
          </p:cNvPr>
          <p:cNvSpPr>
            <a:spLocks noGrp="1"/>
          </p:cNvSpPr>
          <p:nvPr>
            <p:ph type="title"/>
          </p:nvPr>
        </p:nvSpPr>
        <p:spPr>
          <a:xfrm>
            <a:off x="466722" y="586855"/>
            <a:ext cx="3201366" cy="3387497"/>
          </a:xfrm>
        </p:spPr>
        <p:txBody>
          <a:bodyPr anchor="b">
            <a:normAutofit/>
          </a:bodyPr>
          <a:lstStyle/>
          <a:p>
            <a:pPr algn="r"/>
            <a:r>
              <a:rPr lang="en-IN" sz="4000" dirty="0">
                <a:solidFill>
                  <a:schemeClr val="bg1"/>
                </a:solidFill>
              </a:rPr>
              <a:t>Which defect types are the most expensive to fix?</a:t>
            </a:r>
            <a:br>
              <a:rPr lang="en-IN" sz="4000" dirty="0"/>
            </a:br>
            <a:endParaRPr lang="en-IN" sz="4000" b="1" dirty="0">
              <a:solidFill>
                <a:schemeClr val="bg1"/>
              </a:solidFill>
            </a:endParaRPr>
          </a:p>
        </p:txBody>
      </p:sp>
      <p:sp>
        <p:nvSpPr>
          <p:cNvPr id="3" name="Content Placeholder 2">
            <a:extLst>
              <a:ext uri="{FF2B5EF4-FFF2-40B4-BE49-F238E27FC236}">
                <a16:creationId xmlns:a16="http://schemas.microsoft.com/office/drawing/2014/main" id="{DD20C731-F0B2-F0E4-961F-9FFCC4EB20B8}"/>
              </a:ext>
            </a:extLst>
          </p:cNvPr>
          <p:cNvSpPr>
            <a:spLocks noGrp="1"/>
          </p:cNvSpPr>
          <p:nvPr>
            <p:ph idx="1"/>
          </p:nvPr>
        </p:nvSpPr>
        <p:spPr>
          <a:xfrm>
            <a:off x="4810259" y="649480"/>
            <a:ext cx="6555347" cy="5546047"/>
          </a:xfrm>
        </p:spPr>
        <p:txBody>
          <a:bodyPr anchor="ctr">
            <a:normAutofit/>
          </a:bodyPr>
          <a:lstStyle/>
          <a:p>
            <a:endParaRPr lang="en-IN" sz="2000" dirty="0"/>
          </a:p>
          <a:p>
            <a:endParaRPr lang="en-IN" sz="2000" dirty="0"/>
          </a:p>
          <a:p>
            <a:endParaRPr lang="en-IN" sz="2000" dirty="0"/>
          </a:p>
        </p:txBody>
      </p:sp>
      <p:pic>
        <p:nvPicPr>
          <p:cNvPr id="7" name="Picture 6" descr="A blue and white striped flag">
            <a:extLst>
              <a:ext uri="{FF2B5EF4-FFF2-40B4-BE49-F238E27FC236}">
                <a16:creationId xmlns:a16="http://schemas.microsoft.com/office/drawing/2014/main" id="{050DFA94-C02D-9693-DCA3-D2DE5C9AA0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4809" y="629122"/>
            <a:ext cx="8057191" cy="1314253"/>
          </a:xfrm>
          <a:prstGeom prst="rect">
            <a:avLst/>
          </a:prstGeom>
        </p:spPr>
      </p:pic>
      <p:pic>
        <p:nvPicPr>
          <p:cNvPr id="9" name="Picture 8" descr="A blue and white striped flag&#10;&#10;AI-generated content may be incorrect.">
            <a:extLst>
              <a:ext uri="{FF2B5EF4-FFF2-40B4-BE49-F238E27FC236}">
                <a16:creationId xmlns:a16="http://schemas.microsoft.com/office/drawing/2014/main" id="{982B0BB3-FDFE-1B5E-BE4E-7EC921608C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7826" y="2448713"/>
            <a:ext cx="8154174" cy="1335907"/>
          </a:xfrm>
          <a:prstGeom prst="rect">
            <a:avLst/>
          </a:prstGeom>
        </p:spPr>
      </p:pic>
      <p:sp>
        <p:nvSpPr>
          <p:cNvPr id="10" name="TextBox 9">
            <a:extLst>
              <a:ext uri="{FF2B5EF4-FFF2-40B4-BE49-F238E27FC236}">
                <a16:creationId xmlns:a16="http://schemas.microsoft.com/office/drawing/2014/main" id="{898696C1-58BD-7334-3F3A-EB5AD9ACE015}"/>
              </a:ext>
            </a:extLst>
          </p:cNvPr>
          <p:cNvSpPr txBox="1"/>
          <p:nvPr/>
        </p:nvSpPr>
        <p:spPr>
          <a:xfrm>
            <a:off x="4375355" y="4267200"/>
            <a:ext cx="7678993" cy="1200329"/>
          </a:xfrm>
          <a:prstGeom prst="rect">
            <a:avLst/>
          </a:prstGeom>
          <a:noFill/>
        </p:spPr>
        <p:txBody>
          <a:bodyPr wrap="square" rtlCol="0">
            <a:spAutoFit/>
          </a:bodyPr>
          <a:lstStyle/>
          <a:p>
            <a:r>
              <a:rPr lang="en-US" dirty="0"/>
              <a:t>Although structural defects contribute the highest total repair cost due to higher volume, cosmetic defects have a higher average repair cost per incident, indicating that individual cosmetic issues may require more intensive rework</a:t>
            </a:r>
            <a:endParaRPr lang="en-IN" dirty="0"/>
          </a:p>
        </p:txBody>
      </p:sp>
    </p:spTree>
    <p:extLst>
      <p:ext uri="{BB962C8B-B14F-4D97-AF65-F5344CB8AC3E}">
        <p14:creationId xmlns:p14="http://schemas.microsoft.com/office/powerpoint/2010/main" val="2217137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63A437-95EE-95A3-2EDB-FD463C7FEE23}"/>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6B4E248-6838-8AED-C7A4-10B5C798F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E13BF4A0-816B-B599-C02A-AFA01CA61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8D29CDC-513A-6B2C-B8D8-5DFFE8FC69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8350DF2-39A4-3BF3-5C79-674618CA2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30611B6-312C-49F1-1018-D12E672EA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6C4DDAC0-4C92-3160-BD07-5A0C2857EA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6E07F52A-D1D9-4DB6-676B-462CC7BA92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63AE26-0AAD-9EEE-5FC1-A65AD1470AD2}"/>
              </a:ext>
            </a:extLst>
          </p:cNvPr>
          <p:cNvSpPr>
            <a:spLocks noGrp="1"/>
          </p:cNvSpPr>
          <p:nvPr>
            <p:ph type="title"/>
          </p:nvPr>
        </p:nvSpPr>
        <p:spPr>
          <a:xfrm>
            <a:off x="466722" y="586855"/>
            <a:ext cx="3201366" cy="3387497"/>
          </a:xfrm>
        </p:spPr>
        <p:txBody>
          <a:bodyPr anchor="b">
            <a:normAutofit/>
          </a:bodyPr>
          <a:lstStyle/>
          <a:p>
            <a:pPr algn="r"/>
            <a:r>
              <a:rPr lang="en-IN" sz="4000" dirty="0">
                <a:solidFill>
                  <a:schemeClr val="bg1"/>
                </a:solidFill>
              </a:rPr>
              <a:t>How does defect severity impact repair cost?</a:t>
            </a:r>
          </a:p>
        </p:txBody>
      </p:sp>
      <p:sp>
        <p:nvSpPr>
          <p:cNvPr id="3" name="Content Placeholder 2">
            <a:extLst>
              <a:ext uri="{FF2B5EF4-FFF2-40B4-BE49-F238E27FC236}">
                <a16:creationId xmlns:a16="http://schemas.microsoft.com/office/drawing/2014/main" id="{22B6A242-A2E8-4061-0E4F-BDA333043EAF}"/>
              </a:ext>
            </a:extLst>
          </p:cNvPr>
          <p:cNvSpPr>
            <a:spLocks noGrp="1"/>
          </p:cNvSpPr>
          <p:nvPr>
            <p:ph idx="1"/>
          </p:nvPr>
        </p:nvSpPr>
        <p:spPr>
          <a:xfrm>
            <a:off x="4810259" y="649480"/>
            <a:ext cx="6555347" cy="5546047"/>
          </a:xfrm>
        </p:spPr>
        <p:txBody>
          <a:bodyPr anchor="ctr">
            <a:normAutofit/>
          </a:bodyPr>
          <a:lstStyle/>
          <a:p>
            <a:endParaRPr lang="en-IN" sz="2000" dirty="0"/>
          </a:p>
          <a:p>
            <a:endParaRPr lang="en-IN" sz="2000" dirty="0"/>
          </a:p>
          <a:p>
            <a:endParaRPr lang="en-IN" sz="2000" dirty="0"/>
          </a:p>
        </p:txBody>
      </p:sp>
      <p:pic>
        <p:nvPicPr>
          <p:cNvPr id="5" name="Picture 4">
            <a:extLst>
              <a:ext uri="{FF2B5EF4-FFF2-40B4-BE49-F238E27FC236}">
                <a16:creationId xmlns:a16="http://schemas.microsoft.com/office/drawing/2014/main" id="{49E2BFF3-97E9-63D5-EF1C-D0ADA9C02E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4810" y="1604530"/>
            <a:ext cx="8030209" cy="1008587"/>
          </a:xfrm>
          <a:prstGeom prst="rect">
            <a:avLst/>
          </a:prstGeom>
        </p:spPr>
      </p:pic>
      <p:sp>
        <p:nvSpPr>
          <p:cNvPr id="6" name="TextBox 5">
            <a:extLst>
              <a:ext uri="{FF2B5EF4-FFF2-40B4-BE49-F238E27FC236}">
                <a16:creationId xmlns:a16="http://schemas.microsoft.com/office/drawing/2014/main" id="{B45818BD-7C31-CB75-06E8-69A528288415}"/>
              </a:ext>
            </a:extLst>
          </p:cNvPr>
          <p:cNvSpPr txBox="1"/>
          <p:nvPr/>
        </p:nvSpPr>
        <p:spPr>
          <a:xfrm>
            <a:off x="4215753" y="3644719"/>
            <a:ext cx="7868321" cy="1200329"/>
          </a:xfrm>
          <a:prstGeom prst="rect">
            <a:avLst/>
          </a:prstGeom>
          <a:noFill/>
        </p:spPr>
        <p:txBody>
          <a:bodyPr wrap="square" rtlCol="0">
            <a:spAutoFit/>
          </a:bodyPr>
          <a:lstStyle/>
          <a:p>
            <a:r>
              <a:rPr lang="en-US" dirty="0"/>
              <a:t>Defect severity has a direct impact on repair cost. Although minor defects occur more frequently and may contribute to higher total cost, critical defects have the highest average repair cost per incident, making them high-risk issues that require prioritization.</a:t>
            </a:r>
            <a:endParaRPr lang="en-IN" dirty="0"/>
          </a:p>
        </p:txBody>
      </p:sp>
    </p:spTree>
    <p:extLst>
      <p:ext uri="{BB962C8B-B14F-4D97-AF65-F5344CB8AC3E}">
        <p14:creationId xmlns:p14="http://schemas.microsoft.com/office/powerpoint/2010/main" val="1086801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844BEE-1C5C-ECB6-4B37-C1E147FFFF5B}"/>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7030553-9CE2-29D7-9A72-34A909664C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4A5B6673-083E-E1DB-EE64-4A7988F3C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731DBBB-4C4D-47CC-6305-85FBEEEF8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80A616C-4F0C-7A56-00C1-6D5D71436A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B5A1EEF-78F9-D90F-7453-5829C97FE9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4C560F1D-0F34-4304-EBD7-9EAE4E0BA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8D18DE50-FAC0-6D02-ABB9-80E7DEA95D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27F66A-B7A2-4E2C-BF16-1A7489C4AC32}"/>
              </a:ext>
            </a:extLst>
          </p:cNvPr>
          <p:cNvSpPr>
            <a:spLocks noGrp="1"/>
          </p:cNvSpPr>
          <p:nvPr>
            <p:ph type="title"/>
          </p:nvPr>
        </p:nvSpPr>
        <p:spPr>
          <a:xfrm>
            <a:off x="466722" y="586855"/>
            <a:ext cx="3201366" cy="3387497"/>
          </a:xfrm>
        </p:spPr>
        <p:txBody>
          <a:bodyPr anchor="b">
            <a:normAutofit/>
          </a:bodyPr>
          <a:lstStyle/>
          <a:p>
            <a:pPr algn="r"/>
            <a:r>
              <a:rPr lang="en-IN" sz="4000" dirty="0">
                <a:solidFill>
                  <a:schemeClr val="bg1"/>
                </a:solidFill>
              </a:rPr>
              <a:t>Which inspection method detects the most critical defects?</a:t>
            </a:r>
            <a:endParaRPr lang="en-IN" sz="4000" b="1" dirty="0">
              <a:solidFill>
                <a:schemeClr val="bg1"/>
              </a:solidFill>
            </a:endParaRPr>
          </a:p>
        </p:txBody>
      </p:sp>
      <p:sp>
        <p:nvSpPr>
          <p:cNvPr id="3" name="Content Placeholder 2">
            <a:extLst>
              <a:ext uri="{FF2B5EF4-FFF2-40B4-BE49-F238E27FC236}">
                <a16:creationId xmlns:a16="http://schemas.microsoft.com/office/drawing/2014/main" id="{6AE194ED-E758-EF7D-8C8A-18FC61592BD7}"/>
              </a:ext>
            </a:extLst>
          </p:cNvPr>
          <p:cNvSpPr>
            <a:spLocks noGrp="1"/>
          </p:cNvSpPr>
          <p:nvPr>
            <p:ph idx="1"/>
          </p:nvPr>
        </p:nvSpPr>
        <p:spPr>
          <a:xfrm>
            <a:off x="4810259" y="649480"/>
            <a:ext cx="6555347" cy="5546047"/>
          </a:xfrm>
        </p:spPr>
        <p:txBody>
          <a:bodyPr anchor="ctr">
            <a:normAutofit/>
          </a:bodyPr>
          <a:lstStyle/>
          <a:p>
            <a:endParaRPr lang="en-IN" sz="2000" dirty="0"/>
          </a:p>
          <a:p>
            <a:endParaRPr lang="en-IN" sz="2000" dirty="0"/>
          </a:p>
          <a:p>
            <a:endParaRPr lang="en-IN" sz="2000" dirty="0"/>
          </a:p>
        </p:txBody>
      </p:sp>
      <p:pic>
        <p:nvPicPr>
          <p:cNvPr id="7" name="Picture 6" descr="A graph of a bar">
            <a:extLst>
              <a:ext uri="{FF2B5EF4-FFF2-40B4-BE49-F238E27FC236}">
                <a16:creationId xmlns:a16="http://schemas.microsoft.com/office/drawing/2014/main" id="{70CBC5FD-177F-5566-634B-1675A73746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4476" y="99016"/>
            <a:ext cx="3554854" cy="4855750"/>
          </a:xfrm>
          <a:prstGeom prst="rect">
            <a:avLst/>
          </a:prstGeom>
        </p:spPr>
      </p:pic>
      <p:sp>
        <p:nvSpPr>
          <p:cNvPr id="8" name="TextBox 7">
            <a:extLst>
              <a:ext uri="{FF2B5EF4-FFF2-40B4-BE49-F238E27FC236}">
                <a16:creationId xmlns:a16="http://schemas.microsoft.com/office/drawing/2014/main" id="{C08F3634-9E10-C7F5-5B17-11ACD60E860E}"/>
              </a:ext>
            </a:extLst>
          </p:cNvPr>
          <p:cNvSpPr txBox="1"/>
          <p:nvPr/>
        </p:nvSpPr>
        <p:spPr>
          <a:xfrm>
            <a:off x="4404852" y="5053781"/>
            <a:ext cx="7600335" cy="646331"/>
          </a:xfrm>
          <a:prstGeom prst="rect">
            <a:avLst/>
          </a:prstGeom>
          <a:noFill/>
        </p:spPr>
        <p:txBody>
          <a:bodyPr wrap="square" rtlCol="0">
            <a:spAutoFit/>
          </a:bodyPr>
          <a:lstStyle/>
          <a:p>
            <a:r>
              <a:rPr lang="en-US" dirty="0"/>
              <a:t>Manual inspection identifies the highest number of critical defects. However, this is likely influenced by inspection volume.</a:t>
            </a:r>
            <a:endParaRPr lang="en-IN" dirty="0"/>
          </a:p>
        </p:txBody>
      </p:sp>
      <p:pic>
        <p:nvPicPr>
          <p:cNvPr id="9" name="Picture 8" descr="A blue rectangle with white text&#10;&#10;AI-generated content may be incorrect.">
            <a:extLst>
              <a:ext uri="{FF2B5EF4-FFF2-40B4-BE49-F238E27FC236}">
                <a16:creationId xmlns:a16="http://schemas.microsoft.com/office/drawing/2014/main" id="{1D14F06D-8BD6-A809-4A61-5D94CD4072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61917" y="99016"/>
            <a:ext cx="1705213" cy="800212"/>
          </a:xfrm>
          <a:prstGeom prst="rect">
            <a:avLst/>
          </a:prstGeom>
        </p:spPr>
      </p:pic>
    </p:spTree>
    <p:extLst>
      <p:ext uri="{BB962C8B-B14F-4D97-AF65-F5344CB8AC3E}">
        <p14:creationId xmlns:p14="http://schemas.microsoft.com/office/powerpoint/2010/main" val="3542894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053A57-45CB-F9B7-EC43-18BBE6059ED8}"/>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D59F8FE-457A-49DB-790D-CFFE11A9A1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A45050C7-3C36-7406-28EC-64EDD1D91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8F8A45C-40DB-242B-5401-BB79D40D45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EB92E80-A228-BE04-DBD7-5F944828E9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CA67308-318E-E1B3-8BCD-F61B4DB95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E769C94-EB76-64EC-53EC-6416414A9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D1AA0AAD-5A4E-BABF-1988-BA456FA4F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AAFEA0-1A63-63A4-204C-F6BB257F3BC0}"/>
              </a:ext>
            </a:extLst>
          </p:cNvPr>
          <p:cNvSpPr>
            <a:spLocks noGrp="1"/>
          </p:cNvSpPr>
          <p:nvPr>
            <p:ph type="title"/>
          </p:nvPr>
        </p:nvSpPr>
        <p:spPr>
          <a:xfrm>
            <a:off x="466722" y="586855"/>
            <a:ext cx="3201366" cy="3387497"/>
          </a:xfrm>
        </p:spPr>
        <p:txBody>
          <a:bodyPr anchor="b">
            <a:normAutofit/>
          </a:bodyPr>
          <a:lstStyle/>
          <a:p>
            <a:pPr algn="r"/>
            <a:r>
              <a:rPr lang="en-IN" sz="4000" dirty="0">
                <a:solidFill>
                  <a:schemeClr val="bg1"/>
                </a:solidFill>
              </a:rPr>
              <a:t>Are certain defect locations associated with higher severity?</a:t>
            </a:r>
          </a:p>
        </p:txBody>
      </p:sp>
      <p:sp>
        <p:nvSpPr>
          <p:cNvPr id="3" name="Content Placeholder 2">
            <a:extLst>
              <a:ext uri="{FF2B5EF4-FFF2-40B4-BE49-F238E27FC236}">
                <a16:creationId xmlns:a16="http://schemas.microsoft.com/office/drawing/2014/main" id="{9103E65B-986B-A083-FF9B-D4B38C9C6923}"/>
              </a:ext>
            </a:extLst>
          </p:cNvPr>
          <p:cNvSpPr>
            <a:spLocks noGrp="1"/>
          </p:cNvSpPr>
          <p:nvPr>
            <p:ph idx="1"/>
          </p:nvPr>
        </p:nvSpPr>
        <p:spPr>
          <a:xfrm>
            <a:off x="4810259" y="649480"/>
            <a:ext cx="6555347" cy="5546047"/>
          </a:xfrm>
        </p:spPr>
        <p:txBody>
          <a:bodyPr anchor="ctr">
            <a:normAutofit/>
          </a:bodyPr>
          <a:lstStyle/>
          <a:p>
            <a:endParaRPr lang="en-IN" sz="2000" dirty="0"/>
          </a:p>
          <a:p>
            <a:endParaRPr lang="en-IN" sz="2000" dirty="0"/>
          </a:p>
          <a:p>
            <a:endParaRPr lang="en-IN" sz="2000" dirty="0"/>
          </a:p>
        </p:txBody>
      </p:sp>
      <p:sp>
        <p:nvSpPr>
          <p:cNvPr id="8" name="TextBox 7">
            <a:extLst>
              <a:ext uri="{FF2B5EF4-FFF2-40B4-BE49-F238E27FC236}">
                <a16:creationId xmlns:a16="http://schemas.microsoft.com/office/drawing/2014/main" id="{BD23961D-9DC6-3535-7961-78E497913B3D}"/>
              </a:ext>
            </a:extLst>
          </p:cNvPr>
          <p:cNvSpPr txBox="1"/>
          <p:nvPr/>
        </p:nvSpPr>
        <p:spPr>
          <a:xfrm>
            <a:off x="4226181" y="5178093"/>
            <a:ext cx="7855974" cy="1200329"/>
          </a:xfrm>
          <a:prstGeom prst="rect">
            <a:avLst/>
          </a:prstGeom>
          <a:noFill/>
        </p:spPr>
        <p:txBody>
          <a:bodyPr wrap="square" rtlCol="0">
            <a:spAutoFit/>
          </a:bodyPr>
          <a:lstStyle/>
          <a:p>
            <a:r>
              <a:rPr lang="en-US" dirty="0"/>
              <a:t>Internal and surface defect locations account for a slightly higher share of critical defects compared to component-level issues, indicating increased severity risk in these areas. However, severity risk is distributed across all locations rather than isolated to one.</a:t>
            </a:r>
            <a:endParaRPr lang="en-IN" dirty="0"/>
          </a:p>
        </p:txBody>
      </p:sp>
      <p:pic>
        <p:nvPicPr>
          <p:cNvPr id="12" name="Picture 11" descr="A blue rectangle with white text&#10;&#10;AI-generated content may be incorrect.">
            <a:extLst>
              <a:ext uri="{FF2B5EF4-FFF2-40B4-BE49-F238E27FC236}">
                <a16:creationId xmlns:a16="http://schemas.microsoft.com/office/drawing/2014/main" id="{75A9D3AE-1733-F4CD-3A71-C307AA7567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5551" y="111282"/>
            <a:ext cx="1705213" cy="800212"/>
          </a:xfrm>
          <a:prstGeom prst="rect">
            <a:avLst/>
          </a:prstGeom>
        </p:spPr>
      </p:pic>
      <p:pic>
        <p:nvPicPr>
          <p:cNvPr id="14" name="Picture 13" descr="A graph of a bar&#10;&#10;AI-generated content may be incorrect.">
            <a:extLst>
              <a:ext uri="{FF2B5EF4-FFF2-40B4-BE49-F238E27FC236}">
                <a16:creationId xmlns:a16="http://schemas.microsoft.com/office/drawing/2014/main" id="{9DC94BB8-166F-0AC4-237E-28AE602C0A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7211" y="203261"/>
            <a:ext cx="4073457" cy="4771571"/>
          </a:xfrm>
          <a:prstGeom prst="rect">
            <a:avLst/>
          </a:prstGeom>
        </p:spPr>
      </p:pic>
    </p:spTree>
    <p:extLst>
      <p:ext uri="{BB962C8B-B14F-4D97-AF65-F5344CB8AC3E}">
        <p14:creationId xmlns:p14="http://schemas.microsoft.com/office/powerpoint/2010/main" val="2036868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50831A-4050-AF82-6C4D-273C9B034891}"/>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CBE4FA0-C05B-BBDB-0D9B-00981A5572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4959C20F-36DB-28F5-D3FE-64C5ECE5C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FF10CEA-96F4-7468-CEA5-45B614C67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B21591C-4350-606E-BA7E-935441CD91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45EC92C-0188-AE91-D2F8-E69050DD3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12775959-409E-DF33-899E-E60251BD8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FE660580-38B5-6645-E0BD-E5224A1E4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FCDEF0-3353-33C0-CA13-B895EC57CCBD}"/>
              </a:ext>
            </a:extLst>
          </p:cNvPr>
          <p:cNvSpPr>
            <a:spLocks noGrp="1"/>
          </p:cNvSpPr>
          <p:nvPr>
            <p:ph type="title"/>
          </p:nvPr>
        </p:nvSpPr>
        <p:spPr>
          <a:xfrm>
            <a:off x="466722" y="586855"/>
            <a:ext cx="3201366" cy="3387497"/>
          </a:xfrm>
        </p:spPr>
        <p:txBody>
          <a:bodyPr anchor="b">
            <a:normAutofit/>
          </a:bodyPr>
          <a:lstStyle/>
          <a:p>
            <a:pPr algn="r"/>
            <a:r>
              <a:rPr lang="en-US" sz="4000" dirty="0">
                <a:solidFill>
                  <a:schemeClr val="bg1"/>
                </a:solidFill>
              </a:rPr>
              <a:t>Do certain inspection methods lead to lower repair costs?</a:t>
            </a:r>
            <a:endParaRPr lang="en-IN" sz="4000" dirty="0">
              <a:solidFill>
                <a:schemeClr val="bg1"/>
              </a:solidFill>
            </a:endParaRPr>
          </a:p>
        </p:txBody>
      </p:sp>
      <p:sp>
        <p:nvSpPr>
          <p:cNvPr id="3" name="Content Placeholder 2">
            <a:extLst>
              <a:ext uri="{FF2B5EF4-FFF2-40B4-BE49-F238E27FC236}">
                <a16:creationId xmlns:a16="http://schemas.microsoft.com/office/drawing/2014/main" id="{3B20AD97-9986-6CE4-C01B-3E720AA137DC}"/>
              </a:ext>
            </a:extLst>
          </p:cNvPr>
          <p:cNvSpPr>
            <a:spLocks noGrp="1"/>
          </p:cNvSpPr>
          <p:nvPr>
            <p:ph idx="1"/>
          </p:nvPr>
        </p:nvSpPr>
        <p:spPr>
          <a:xfrm>
            <a:off x="4810259" y="649480"/>
            <a:ext cx="6555347" cy="5546047"/>
          </a:xfrm>
        </p:spPr>
        <p:txBody>
          <a:bodyPr anchor="ctr">
            <a:normAutofit/>
          </a:bodyPr>
          <a:lstStyle/>
          <a:p>
            <a:endParaRPr lang="en-IN" sz="2000" dirty="0"/>
          </a:p>
          <a:p>
            <a:endParaRPr lang="en-IN" sz="2000" dirty="0"/>
          </a:p>
          <a:p>
            <a:endParaRPr lang="en-IN" sz="2000" dirty="0"/>
          </a:p>
        </p:txBody>
      </p:sp>
      <p:sp>
        <p:nvSpPr>
          <p:cNvPr id="4" name="TextBox 3">
            <a:extLst>
              <a:ext uri="{FF2B5EF4-FFF2-40B4-BE49-F238E27FC236}">
                <a16:creationId xmlns:a16="http://schemas.microsoft.com/office/drawing/2014/main" id="{ED3B7EB3-9142-E04F-9EC4-49D6FC43727F}"/>
              </a:ext>
            </a:extLst>
          </p:cNvPr>
          <p:cNvSpPr txBox="1"/>
          <p:nvPr/>
        </p:nvSpPr>
        <p:spPr>
          <a:xfrm>
            <a:off x="4309577" y="4975027"/>
            <a:ext cx="7882423" cy="1200329"/>
          </a:xfrm>
          <a:prstGeom prst="rect">
            <a:avLst/>
          </a:prstGeom>
          <a:noFill/>
        </p:spPr>
        <p:txBody>
          <a:bodyPr wrap="square" rtlCol="0">
            <a:spAutoFit/>
          </a:bodyPr>
          <a:lstStyle/>
          <a:p>
            <a:r>
              <a:rPr lang="en-US" dirty="0"/>
              <a:t>Manual testing contributes the highest share of total repair cost at 36.5%, largely due to defect volume. However, automated testing contributes the lowest share and shows lower average repair cost, indicating better cost efficiency through early detection.</a:t>
            </a:r>
            <a:endParaRPr lang="en-IN" dirty="0"/>
          </a:p>
        </p:txBody>
      </p:sp>
      <p:pic>
        <p:nvPicPr>
          <p:cNvPr id="6" name="Picture 5" descr="A graph of a bar">
            <a:extLst>
              <a:ext uri="{FF2B5EF4-FFF2-40B4-BE49-F238E27FC236}">
                <a16:creationId xmlns:a16="http://schemas.microsoft.com/office/drawing/2014/main" id="{6187F795-34C7-59F1-BBBA-402F34EE5D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7820" y="60082"/>
            <a:ext cx="3668088" cy="4535325"/>
          </a:xfrm>
          <a:prstGeom prst="rect">
            <a:avLst/>
          </a:prstGeom>
        </p:spPr>
      </p:pic>
    </p:spTree>
    <p:extLst>
      <p:ext uri="{BB962C8B-B14F-4D97-AF65-F5344CB8AC3E}">
        <p14:creationId xmlns:p14="http://schemas.microsoft.com/office/powerpoint/2010/main" val="3255209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250000-930A-D40B-20C4-5E1EE8F4A960}"/>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46068A9E-E036-6301-EC2F-76D355A14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3FC80F85-45AF-5C4E-015A-211D49580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C731EFD-D215-0212-7755-8FB866C20C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0F7F398-B7A1-7D5B-7705-1603915A1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5822C05-F0B1-7931-2CF1-0428D28F04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924B61EE-E5B5-BCD4-D4B7-CEE72F5D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486C8D40-C15B-9829-B249-49759D594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4249F0-5CA8-0754-5C34-4A5738835C0E}"/>
              </a:ext>
            </a:extLst>
          </p:cNvPr>
          <p:cNvSpPr>
            <a:spLocks noGrp="1"/>
          </p:cNvSpPr>
          <p:nvPr>
            <p:ph type="title"/>
          </p:nvPr>
        </p:nvSpPr>
        <p:spPr>
          <a:xfrm>
            <a:off x="466722" y="586855"/>
            <a:ext cx="3201366" cy="3387497"/>
          </a:xfrm>
        </p:spPr>
        <p:txBody>
          <a:bodyPr anchor="b">
            <a:normAutofit fontScale="90000"/>
          </a:bodyPr>
          <a:lstStyle/>
          <a:p>
            <a:pPr algn="r"/>
            <a:r>
              <a:rPr lang="en-IN" dirty="0">
                <a:solidFill>
                  <a:schemeClr val="bg1"/>
                </a:solidFill>
              </a:rPr>
              <a:t>Which products generate the highest number of defects?</a:t>
            </a:r>
          </a:p>
        </p:txBody>
      </p:sp>
      <p:sp>
        <p:nvSpPr>
          <p:cNvPr id="3" name="Content Placeholder 2">
            <a:extLst>
              <a:ext uri="{FF2B5EF4-FFF2-40B4-BE49-F238E27FC236}">
                <a16:creationId xmlns:a16="http://schemas.microsoft.com/office/drawing/2014/main" id="{E0E0C3CE-DF5C-2AF2-CC15-721950B7AB8C}"/>
              </a:ext>
            </a:extLst>
          </p:cNvPr>
          <p:cNvSpPr>
            <a:spLocks noGrp="1"/>
          </p:cNvSpPr>
          <p:nvPr>
            <p:ph idx="1"/>
          </p:nvPr>
        </p:nvSpPr>
        <p:spPr>
          <a:xfrm>
            <a:off x="4810259" y="649480"/>
            <a:ext cx="6555347" cy="5546047"/>
          </a:xfrm>
        </p:spPr>
        <p:txBody>
          <a:bodyPr anchor="ctr">
            <a:normAutofit/>
          </a:bodyPr>
          <a:lstStyle/>
          <a:p>
            <a:endParaRPr lang="en-IN" sz="2000" dirty="0"/>
          </a:p>
          <a:p>
            <a:endParaRPr lang="en-IN" sz="2000" dirty="0"/>
          </a:p>
          <a:p>
            <a:endParaRPr lang="en-IN" sz="2000" dirty="0"/>
          </a:p>
        </p:txBody>
      </p:sp>
      <p:pic>
        <p:nvPicPr>
          <p:cNvPr id="7" name="Picture 6" descr="A graph of blue bars&#10;&#10;AI-generated content may be incorrect.">
            <a:extLst>
              <a:ext uri="{FF2B5EF4-FFF2-40B4-BE49-F238E27FC236}">
                <a16:creationId xmlns:a16="http://schemas.microsoft.com/office/drawing/2014/main" id="{A1388F25-E051-7878-FB52-05E75AF723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2062" y="-10756"/>
            <a:ext cx="4367966" cy="4839624"/>
          </a:xfrm>
          <a:prstGeom prst="rect">
            <a:avLst/>
          </a:prstGeom>
        </p:spPr>
      </p:pic>
      <p:sp>
        <p:nvSpPr>
          <p:cNvPr id="8" name="TextBox 7">
            <a:extLst>
              <a:ext uri="{FF2B5EF4-FFF2-40B4-BE49-F238E27FC236}">
                <a16:creationId xmlns:a16="http://schemas.microsoft.com/office/drawing/2014/main" id="{9DE0593A-111C-78EC-9D88-0469DB4ADD03}"/>
              </a:ext>
            </a:extLst>
          </p:cNvPr>
          <p:cNvSpPr txBox="1"/>
          <p:nvPr/>
        </p:nvSpPr>
        <p:spPr>
          <a:xfrm>
            <a:off x="4351283" y="5044966"/>
            <a:ext cx="7704083" cy="923330"/>
          </a:xfrm>
          <a:prstGeom prst="rect">
            <a:avLst/>
          </a:prstGeom>
          <a:noFill/>
        </p:spPr>
        <p:txBody>
          <a:bodyPr wrap="square" rtlCol="0">
            <a:spAutoFit/>
          </a:bodyPr>
          <a:lstStyle/>
          <a:p>
            <a:r>
              <a:rPr lang="en-US" dirty="0"/>
              <a:t>A small set of products repeatedly generate high defect volumes. Products 63 and 81 emerge as the most defect-prone, indicating potential design, process, or material issues specific to these SKUs</a:t>
            </a:r>
            <a:endParaRPr lang="en-IN" dirty="0"/>
          </a:p>
        </p:txBody>
      </p:sp>
    </p:spTree>
    <p:extLst>
      <p:ext uri="{BB962C8B-B14F-4D97-AF65-F5344CB8AC3E}">
        <p14:creationId xmlns:p14="http://schemas.microsoft.com/office/powerpoint/2010/main" val="3328817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90C4F6-1787-C9B8-B5B6-42998176BF8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5A17CF3-97DA-45C6-335E-99D759AFA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B40801D-963A-24B7-D1B6-9054CC6490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1E2B773-7F3F-A52E-49EC-362722DDF1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BE4E7EF-41A9-9209-F437-E2B5DEDA2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DB910D-396A-6FFC-ADDB-DE69810D9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C3DAF2-A8F9-3B35-9A94-B9EA9116563A}"/>
              </a:ext>
            </a:extLst>
          </p:cNvPr>
          <p:cNvSpPr>
            <a:spLocks noGrp="1"/>
          </p:cNvSpPr>
          <p:nvPr>
            <p:ph type="title"/>
          </p:nvPr>
        </p:nvSpPr>
        <p:spPr>
          <a:xfrm>
            <a:off x="1371599" y="294538"/>
            <a:ext cx="9895951" cy="1033669"/>
          </a:xfrm>
        </p:spPr>
        <p:txBody>
          <a:bodyPr>
            <a:normAutofit/>
          </a:bodyPr>
          <a:lstStyle/>
          <a:p>
            <a:r>
              <a:rPr lang="en-US" sz="4000" b="1" dirty="0">
                <a:solidFill>
                  <a:schemeClr val="bg1"/>
                </a:solidFill>
              </a:rPr>
              <a:t>Conclusion &amp; Key Takeaways</a:t>
            </a:r>
          </a:p>
        </p:txBody>
      </p:sp>
      <p:sp>
        <p:nvSpPr>
          <p:cNvPr id="3" name="Content Placeholder 2">
            <a:extLst>
              <a:ext uri="{FF2B5EF4-FFF2-40B4-BE49-F238E27FC236}">
                <a16:creationId xmlns:a16="http://schemas.microsoft.com/office/drawing/2014/main" id="{44434261-68FF-2A88-7DD1-8497B67B2AF6}"/>
              </a:ext>
            </a:extLst>
          </p:cNvPr>
          <p:cNvSpPr>
            <a:spLocks noGrp="1"/>
          </p:cNvSpPr>
          <p:nvPr>
            <p:ph idx="1"/>
          </p:nvPr>
        </p:nvSpPr>
        <p:spPr>
          <a:xfrm>
            <a:off x="0" y="1730478"/>
            <a:ext cx="12191996" cy="5053780"/>
          </a:xfrm>
        </p:spPr>
        <p:txBody>
          <a:bodyPr anchor="ctr">
            <a:normAutofit lnSpcReduction="10000"/>
          </a:bodyPr>
          <a:lstStyle/>
          <a:p>
            <a:r>
              <a:rPr lang="en-US" sz="1800" dirty="0"/>
              <a:t>Overall defect volume shows a </a:t>
            </a:r>
            <a:r>
              <a:rPr lang="en-US" sz="1800" dirty="0">
                <a:highlight>
                  <a:srgbClr val="C0C0C0"/>
                </a:highlight>
              </a:rPr>
              <a:t>declining trend over the 6-month period</a:t>
            </a:r>
            <a:r>
              <a:rPr lang="en-US" sz="1800" dirty="0"/>
              <a:t>, indicating gradual improvement in quality, though month-to-month fluctuations suggest process stability is not yet consistent.</a:t>
            </a:r>
          </a:p>
          <a:p>
            <a:r>
              <a:rPr lang="en-US" sz="1800" dirty="0">
                <a:highlight>
                  <a:srgbClr val="C0C0C0"/>
                </a:highlight>
              </a:rPr>
              <a:t>Structural and functional defects together contribute ~69% </a:t>
            </a:r>
            <a:r>
              <a:rPr lang="en-US" sz="1800" dirty="0"/>
              <a:t>of total defects, making them the primary focus areas for quality improvement initiatives.</a:t>
            </a:r>
          </a:p>
          <a:p>
            <a:r>
              <a:rPr lang="en-US" sz="1800" dirty="0">
                <a:highlight>
                  <a:srgbClr val="C0C0C0"/>
                </a:highlight>
              </a:rPr>
              <a:t>Structural defects generate the highest total repair cost</a:t>
            </a:r>
            <a:r>
              <a:rPr lang="en-US" sz="1800" dirty="0"/>
              <a:t>, driven by higher defect volume, while cosmetic defects have a higher average repair cost per defect, indicating higher rework effort per incident.</a:t>
            </a:r>
          </a:p>
          <a:p>
            <a:r>
              <a:rPr lang="en-US" sz="1800" dirty="0"/>
              <a:t>Defect severity directly impacts repair cost:</a:t>
            </a:r>
          </a:p>
          <a:p>
            <a:pPr lvl="1"/>
            <a:r>
              <a:rPr lang="en-US" sz="1600" dirty="0"/>
              <a:t>Minor defects contribute higher total cost due to frequency</a:t>
            </a:r>
          </a:p>
          <a:p>
            <a:pPr lvl="1"/>
            <a:r>
              <a:rPr lang="en-US" sz="1600" dirty="0"/>
              <a:t>Critical defects have the highest average repair cost, representing higher risk per incident</a:t>
            </a:r>
          </a:p>
          <a:p>
            <a:r>
              <a:rPr lang="en-US" sz="1800" dirty="0">
                <a:highlight>
                  <a:srgbClr val="C0C0C0"/>
                </a:highlight>
              </a:rPr>
              <a:t>Manual testing detects the highest number of critical defects</a:t>
            </a:r>
            <a:r>
              <a:rPr lang="en-US" sz="1800" dirty="0"/>
              <a:t>, followed closely by visual inspection and automated testing. However, this is likely influenced by inspection volume rather than detection efficiency alone.</a:t>
            </a:r>
          </a:p>
          <a:p>
            <a:r>
              <a:rPr lang="en-US" sz="1800" dirty="0">
                <a:highlight>
                  <a:srgbClr val="C0C0C0"/>
                </a:highlight>
              </a:rPr>
              <a:t>Automated testing shows lower average repair cost </a:t>
            </a:r>
            <a:r>
              <a:rPr lang="en-US" sz="1800" dirty="0"/>
              <a:t>and lower share of total repair cost, suggesting earlier defect detection and better cost efficiency.</a:t>
            </a:r>
          </a:p>
          <a:p>
            <a:r>
              <a:rPr lang="en-US" sz="1800" dirty="0"/>
              <a:t>A small set of products </a:t>
            </a:r>
            <a:r>
              <a:rPr lang="en-US" sz="1800" dirty="0">
                <a:highlight>
                  <a:srgbClr val="C0C0C0"/>
                </a:highlight>
              </a:rPr>
              <a:t>(notably Product 63 and 81) </a:t>
            </a:r>
            <a:r>
              <a:rPr lang="en-US" sz="1800" dirty="0"/>
              <a:t>consistently show higher defect counts, indicating recurring quality issues that require targeted root-cause analysis.</a:t>
            </a:r>
          </a:p>
          <a:p>
            <a:r>
              <a:rPr lang="en-US" sz="1800" dirty="0">
                <a:highlight>
                  <a:srgbClr val="C0C0C0"/>
                </a:highlight>
              </a:rPr>
              <a:t>Internal and surface defect locations are slightly more </a:t>
            </a:r>
            <a:r>
              <a:rPr lang="en-US" sz="1800" dirty="0"/>
              <a:t>associated with critical defects, though severity risk is spread across all locations.</a:t>
            </a:r>
          </a:p>
        </p:txBody>
      </p:sp>
    </p:spTree>
    <p:extLst>
      <p:ext uri="{BB962C8B-B14F-4D97-AF65-F5344CB8AC3E}">
        <p14:creationId xmlns:p14="http://schemas.microsoft.com/office/powerpoint/2010/main" val="3093057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ADA938-23F1-A2B0-2E39-40B02CAE7E1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F1603F0-E3C8-5FFE-CA6A-C22F611C94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979D417-95D3-F57C-7C61-53FBD4F6C7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385CBFB-B3A9-7E9A-CFBA-6D84DA57F9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4FFFE5E-938C-0722-33A9-C0037CAEB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D89E5B9-45EC-F731-17BA-48A10ADCE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49D3F0-CE2E-2DCC-A1DF-BE7C7A8350E0}"/>
              </a:ext>
            </a:extLst>
          </p:cNvPr>
          <p:cNvSpPr>
            <a:spLocks noGrp="1"/>
          </p:cNvSpPr>
          <p:nvPr>
            <p:ph type="title"/>
          </p:nvPr>
        </p:nvSpPr>
        <p:spPr>
          <a:xfrm>
            <a:off x="1401095" y="274873"/>
            <a:ext cx="9895951" cy="1033669"/>
          </a:xfrm>
        </p:spPr>
        <p:txBody>
          <a:bodyPr>
            <a:normAutofit/>
          </a:bodyPr>
          <a:lstStyle/>
          <a:p>
            <a:r>
              <a:rPr lang="en-US" sz="4000" b="1" dirty="0">
                <a:solidFill>
                  <a:schemeClr val="bg1"/>
                </a:solidFill>
              </a:rPr>
              <a:t>Management Recommendations</a:t>
            </a:r>
            <a:endParaRPr lang="en-IN" sz="4000" b="1" dirty="0">
              <a:solidFill>
                <a:schemeClr val="bg1"/>
              </a:solidFill>
            </a:endParaRPr>
          </a:p>
        </p:txBody>
      </p:sp>
      <p:sp>
        <p:nvSpPr>
          <p:cNvPr id="3" name="Content Placeholder 2">
            <a:extLst>
              <a:ext uri="{FF2B5EF4-FFF2-40B4-BE49-F238E27FC236}">
                <a16:creationId xmlns:a16="http://schemas.microsoft.com/office/drawing/2014/main" id="{2B517CE6-126E-36F6-DD47-70C384246633}"/>
              </a:ext>
            </a:extLst>
          </p:cNvPr>
          <p:cNvSpPr>
            <a:spLocks noGrp="1"/>
          </p:cNvSpPr>
          <p:nvPr>
            <p:ph idx="1"/>
          </p:nvPr>
        </p:nvSpPr>
        <p:spPr>
          <a:xfrm>
            <a:off x="820993" y="1102065"/>
            <a:ext cx="9724031" cy="5755935"/>
          </a:xfrm>
        </p:spPr>
        <p:txBody>
          <a:bodyPr anchor="ctr">
            <a:normAutofit/>
          </a:bodyPr>
          <a:lstStyle/>
          <a:p>
            <a:r>
              <a:rPr lang="en-US" sz="2400" dirty="0"/>
              <a:t>Prioritize structural and functional defect reduction to control overall defect volume and cost.</a:t>
            </a:r>
          </a:p>
          <a:p>
            <a:r>
              <a:rPr lang="en-US" sz="2400" dirty="0"/>
              <a:t>Use automated testing earlier in the process to reduce downstream repair cost.</a:t>
            </a:r>
          </a:p>
          <a:p>
            <a:r>
              <a:rPr lang="en-US" sz="2400" dirty="0"/>
              <a:t>Conduct focused root-cause analysis on high-defect products and high-severity locations.</a:t>
            </a:r>
          </a:p>
          <a:p>
            <a:r>
              <a:rPr lang="en-US" sz="2400" dirty="0"/>
              <a:t>Combine manual, visual, and automated inspections to balance coverage and cost efficiency</a:t>
            </a:r>
          </a:p>
        </p:txBody>
      </p:sp>
    </p:spTree>
    <p:extLst>
      <p:ext uri="{BB962C8B-B14F-4D97-AF65-F5344CB8AC3E}">
        <p14:creationId xmlns:p14="http://schemas.microsoft.com/office/powerpoint/2010/main" val="2067066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554</TotalTime>
  <Words>984</Words>
  <Application>Microsoft Office PowerPoint</Application>
  <PresentationFormat>Widescreen</PresentationFormat>
  <Paragraphs>72</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GEARWAVE (Defect Analysis)</vt:lpstr>
      <vt:lpstr>Scenario</vt:lpstr>
      <vt:lpstr>Questions Asked</vt:lpstr>
      <vt:lpstr>About data</vt:lpstr>
      <vt:lpstr>How has the defect trend changed over time?</vt:lpstr>
      <vt:lpstr>Which defect types contribute the most to overall defects? </vt:lpstr>
      <vt:lpstr>Which defect types are the most expensive to fix? </vt:lpstr>
      <vt:lpstr>How does defect severity impact repair cost?</vt:lpstr>
      <vt:lpstr>Which inspection method detects the most critical defects?</vt:lpstr>
      <vt:lpstr>Are certain defect locations associated with higher severity?</vt:lpstr>
      <vt:lpstr>Do certain inspection methods lead to lower repair costs?</vt:lpstr>
      <vt:lpstr>Which products generate the highest number of defects?</vt:lpstr>
      <vt:lpstr>Conclusion &amp; Key Takeaways</vt:lpstr>
      <vt:lpstr>Management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viswakarama</dc:creator>
  <cp:lastModifiedBy>nitin viswakarama</cp:lastModifiedBy>
  <cp:revision>3</cp:revision>
  <dcterms:created xsi:type="dcterms:W3CDTF">2025-12-22T14:39:27Z</dcterms:created>
  <dcterms:modified xsi:type="dcterms:W3CDTF">2025-12-22T23:53:46Z</dcterms:modified>
</cp:coreProperties>
</file>